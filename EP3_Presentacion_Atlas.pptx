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[0:00-0:30] Saludo y presentación (30 s)</a:t>
            </a:r>
          </a:p>
          <a:p>
            <a:r>
              <a:t>Buenos días. Somos Luis Tasso, Miguel Arredondo y Nicolas Iturrieta. Presentamos la verificación de seguridad y calidad del sistema Atlas, desarrollada para la Evaluación Parcial N.º 3. Anticipo la conclusión: el dictamen es NO CERTIFICADO, porque encontramos cuatro defectos críticos de seguridad que impiden su puesta en producción. A continuación explico el enfoque, la ejecución y la evidencia.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[0:30-0:50] Contenido (20 s)</a:t>
            </a:r>
          </a:p>
          <a:p>
            <a:r>
              <a:t>La presentación sigue el orden exigido: contexto y alcance, enfoque estratégico de las pruebas, tipos y herramientas, resultados de ejecución, análisis estático, clasificación de los defectos, reflexiones de calidad, seguridad y normativa, y finalmente el dictamen con las acciones correctivas.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[0:50-1:40] Contexto y alcance (50 s)</a:t>
            </a:r>
          </a:p>
          <a:p>
            <a:r>
              <a:t>Atlas es una plataforma web para pymes chilenas que gestiona clientes, contratos y documentos. Tiene arquitectura de tres capas: frontend React con Material UI, API REST en Express/Node y PostgreSQL. Evaluamos seis módulos: autenticación, clientes, contratos y documentos, usuarios y roles, métricas y auditoría.</a:t>
            </a:r>
          </a:p>
          <a:p>
            <a:r>
              <a:t>Nos guiamos por ISO/IEC 25010 para calidad, ISO/IEC 27001 y OWASP Top 10 para seguridad, y la Ley 19.628 y 21.719 de protección de datos. El objetivo era determinar con evidencia si el software es apto para producción. Todo se ejecutó sobre un despliegue Docker en laboratorio: frontend en el puerto 3350, API en 4450 y PostgreSQL en 15432.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[1:40-2:40] Enfoque estratégico (60 s)</a:t>
            </a:r>
          </a:p>
          <a:p>
            <a:r>
              <a:t>Aplicamos un enfoque mixto: ejecución manual reproducible con curl, análisis estático automatizado y revisión manual del código. La priorización fue por riesgo: primero seguridad —control de acceso, subida de archivos e inyección—, luego la funcionalidad central y al final lo no funcional.</a:t>
            </a:r>
          </a:p>
          <a:p>
            <a:r>
              <a:t>Trabajamos en dos ciclos: el Ciclo 1 fue un smoke test de funciones base; si fallaba, deteníamos la ejecución. El Ciclo 2 ejecutó 12 casos funcionales y de seguridad más pruebas complementarias. Los criterios de entrada exigían entorno desplegado, datos semilla y casos revisados; los de salida, el 100 % de los casos críticos ejecutados, sin defectos críticos abiertos y con evidencia registrada.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[2:40-3:20] Tipos de prueba (40 s)</a:t>
            </a:r>
          </a:p>
          <a:p>
            <a:r>
              <a:t>Diseñamos cinco tipos de prueba, cada uno justificado por el ERS. Funcionales para validar los requisitos RF-1 a RF-6: login, CRUD de clientes, contratos, usuarios, dashboard y auditoría. De seguridad para control de acceso, uploads, SQLi, CORS y fuerza bruta. De integración para verificar el flujo completo entre frontend, API y base de datos. De rendimiento para comparar los tiempos de respuesta con los umbrales NFR-PERF. Y de usabilidad, en una revisión acotada de los estados de interfaz.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[3:20-4:10] Herramientas (50 s)</a:t>
            </a:r>
          </a:p>
          <a:p>
            <a:r>
              <a:t>Elegimos cada herramienta por su aporte a la evidencia. Docker Compose reproduce el ambiente completo de forma aislada y verificable. curl nos permite controlar token, cabeceras y payloads, y registrar el código HTTP como prueba. ESLint detecta errores y malas prácticas de calidad de forma automática. SonarQube entrega métricas objetivas de bugs, vulnerabilidades, hotspots y duplicación. Y la revisión manual cubre lo que las herramientas no ven: control de acceso, secretos y manejo de archivos. El equipo de prueba fue un líder de QA, un tester funcional y un tester de seguridad, sobre un entorno QA local con datos ficticios.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[4:10-5:00] Resumen de ejecución (50 s)</a:t>
            </a:r>
          </a:p>
          <a:p>
            <a:r>
              <a:t>Diseñamos y ejecutamos 12 casos: 10 aprobados, un 83 % de éxito, y 2 fallidos. Los fallos son CP-010, que aceptó un archivo ejecutable en la subida de documentos, y CP-011, que permitió leer datos de contratos sin token. Sumamos 10 pruebas de seguridad complementarias, de las cuales 7 arrojaron resultado inseguro. En total registramos 11 incidentes: 4 críticos, 5 graves, 1 moderado y 1 leve. ESLint reportó 14 problemas y SonarQube, 1 vulnerabilidad BLOCKER, 4 hotspots y 198 code smells. El tiempo de respuesta fue de 4 segundos por una latencia artificial en el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[5:00-5:50] Casos representativos (50 s)</a:t>
            </a:r>
          </a:p>
          <a:p>
            <a:r>
              <a:t>Estos son los casos que mejor resumen el resultado. CP-001 aprobó: el login válido emite el JWT. CP-010 falló: el sistema aceptó un archivo .exe y lo sirvió como PDF, lo que es un riesgo de malware. CP-011 falló: un GET a contratos sin token devolvió los datos completos, un IDOR clásico. CP-012 sí aprobó: el intento de inyección SQL fue rechazado con 401 porque las consultas están parametrizadas. SEG-12 mostró CORS abierto con Allow-Origin asterisco, y FN-02 midió 4,06 segundos frente a un umbral de 300 milisegundos.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[5:50-6:40] Análisis estático (50 s)</a:t>
            </a:r>
          </a:p>
          <a:p>
            <a:r>
              <a:t>El análisis estático confirma lo que vimos dinámicamente. ESLint detectó 14 problemas, principalmente variables e imports sin uso y dependencias de hooks. SonarQube, en el backend, encontró una vulnerabilidad BLOCKER: la contraseña de PostgreSQL escrita directamente en db.js, línea 6. Además, 4 security hotspots y un Security Rating E. En el frontend encontró 1 bug, 181 code smells y un problema crítico de complejidad cognitiva. Lo relevante es que los hotspots coinciden exactamente con los defectos BUG-003, de subida de archivos, y BUG-005, de CORS.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[6:40-7:30] Clasificación de defectos (50 s)</a:t>
            </a:r>
          </a:p>
          <a:p>
            <a:r>
              <a:t>Clasificamos los 11 incidentes con una escala de cuatro niveles. CRITICO: 4 casos, que impiden operar o exponen datos sensibles —el acceso sin token, las credenciales en texto claro, la subida sin validación y el secreto en el código—. GRAVE: 5 casos, entre ellos el JWT_SECRET inseguro, el CORS abierto, la ausencia de rate-limit, los errores 500 y el uso de localStorage. MODERADO: la latencia artificial. Y LEVE: los code smells de ESLint. La regla que aplicamos es que un software con defectos CRITICO abiertos nunca debe certificarse.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[7:30-8:00] Evidencias (30 s)</a:t>
            </a:r>
          </a:p>
          <a:p>
            <a:r>
              <a:t>Aquí están las capturas del servidor SonarQube local. Se ven los dashboards de ambos proyectos, los issues de code smells y del frontend, el Quality Gate y el resumen de proyectos. Todas las capturas están incorporadas también en el Anexo E del informe, para que la evidencia sea verificable.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[8:00-9:00] Reflexiones (60 s)</a:t>
            </a:r>
          </a:p>
          <a:p>
            <a:r>
              <a:t>En calidad, el sistema tiene una base funcional correcta, pero una deuda técnica alta en el frontend y un bug de compatibilidad con React 19. En seguridad, los cuatro defectos críticos se mapean a OWASP: control de acceso roto, fallas criptográficas, fallas de autenticación y de integridad de datos y software.</a:t>
            </a:r>
          </a:p>
          <a:p>
            <a:r>
              <a:t>En lo normativo, la exposición de datos personales y el manejo de contraseñas incumplen la Ley 19.628 y la 21.719, y los controles de acceso y criptografía de ISO 27001. En lo legal, los datos de clientes no pueden quedar accesibles sin autorización. Y en lo ético, nuestro compromiso fue reportar todo con transparencia y evidencia, sin ocultar hallazgos y sin usar datos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[9:00-9:40] Dictamen (40 s)</a:t>
            </a:r>
          </a:p>
          <a:p>
            <a:r>
              <a:t>El criterio de certificación era tener el 100 % de los casos de seguridad críticos exitosos y ningún defecto crítico abierto. No se cumplió: fallaron CP-010 y CP-011 y quedan 4 incidentes CRITICO. Por eso el dictamen es NO CERTIFICADO. Las acciones correctivas prioritarias son: autenticación global en todos los endpoints, hash seguro de contraseñas, validación de archivos, secretos fuera del código, CORS restringido, rate-limit, transacciones y errores genéricos, cookies httpOnly y un Quality Gate de seguridad en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[9:40-10:00] Cierre (20 s)</a:t>
            </a:r>
          </a:p>
          <a:p>
            <a:r>
              <a:t>Con esto cerramos la presentación. El informe completo, con el detalle de cada caso y las evidencias, está disponible como respaldo. Quedamos atentos 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Arial"/>
              </a:rPr>
              <a:t>Informe de Seguridad y Calidad</a:t>
            </a:r>
          </a:p>
          <a:p>
            <a:r>
              <a:rPr sz="3000" b="1" i="0">
                <a:solidFill>
                  <a:srgbClr val="DDE7F0"/>
                </a:solidFill>
                <a:latin typeface="Arial"/>
              </a:rPr>
              <a:t>Certificación del Sistema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 i="0">
                <a:solidFill>
                  <a:srgbClr val="DDE7F0"/>
                </a:solidFill>
                <a:latin typeface="Arial"/>
              </a:rPr>
              <a:t>Evaluación Parcial N.º 3 · ISY1102 — Seguridad y Calidad en el Desarrollo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Integrantes:  Luis Tasso · Miguel Arredondo · Nicolas Iturrieta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Carrera: Ingeniería en Desarrollo de Software    ·    Sección 002V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Docente: Christian Rodrigo Alvarez Lobos    ·    Fecha: 17 de octubre de 2026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C0392B"/>
                </a:solidFill>
                <a:latin typeface="Arial"/>
              </a:rPr>
              <a:t>Dictamen: NO CERTIFICADO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E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Arial"/>
              </a:rPr>
              <a:t>Contenido de la presentación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09728"/>
            <a:ext cx="640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i="0">
                <a:solidFill>
                  <a:srgbClr val="DDE7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2000" b="0" i="0">
                <a:solidFill>
                  <a:srgbClr val="212529"/>
                </a:solidFill>
                <a:latin typeface="Arial"/>
              </a:rPr>
              <a:t>Contexto del sistema (Atlas) y alcance de la verificación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2000" b="0" i="0">
                <a:solidFill>
                  <a:srgbClr val="212529"/>
                </a:solidFill>
                <a:latin typeface="Arial"/>
              </a:rPr>
              <a:t>Enfoque estratégico de las pruebas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2000" b="0" i="0">
                <a:solidFill>
                  <a:srgbClr val="212529"/>
                </a:solidFill>
                <a:latin typeface="Arial"/>
              </a:rPr>
              <a:t>Tipos de prueba y su justificación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2000" b="0" i="0">
                <a:solidFill>
                  <a:srgbClr val="212529"/>
                </a:solidFill>
                <a:latin typeface="Arial"/>
              </a:rPr>
              <a:t>Herramientas seleccionadas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2000" b="0" i="0">
                <a:solidFill>
                  <a:srgbClr val="212529"/>
                </a:solidFill>
                <a:latin typeface="Arial"/>
              </a:rPr>
              <a:t>Ejecución de pruebas: resultados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2000" b="0" i="0">
                <a:solidFill>
                  <a:srgbClr val="212529"/>
                </a:solidFill>
                <a:latin typeface="Arial"/>
              </a:rPr>
              <a:t>Análisis estático: ESLint y SonarQube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2000" b="0" i="0">
                <a:solidFill>
                  <a:srgbClr val="212529"/>
                </a:solidFill>
                <a:latin typeface="Arial"/>
              </a:rPr>
              <a:t>Clasificación de los defectos identificados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2000" b="0" i="0">
                <a:solidFill>
                  <a:srgbClr val="212529"/>
                </a:solidFill>
                <a:latin typeface="Arial"/>
              </a:rPr>
              <a:t>Reflexiones de calidad, seguridad, normativa y legal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2000" b="0" i="0">
                <a:solidFill>
                  <a:srgbClr val="212529"/>
                </a:solidFill>
                <a:latin typeface="Arial"/>
              </a:rPr>
              <a:t>Dictamen y acciones correctivas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E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Arial"/>
              </a:rPr>
              <a:t>Contexto y 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09728"/>
            <a:ext cx="640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i="0">
                <a:solidFill>
                  <a:srgbClr val="DDE7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9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900" b="1" i="0">
                <a:solidFill>
                  <a:srgbClr val="212529"/>
                </a:solidFill>
                <a:latin typeface="Arial"/>
              </a:rPr>
              <a:t>Atlas</a:t>
            </a:r>
            <a:r>
              <a:rPr sz="1900" b="0" i="0">
                <a:solidFill>
                  <a:srgbClr val="212529"/>
                </a:solidFill>
                <a:latin typeface="Arial"/>
              </a:rPr>
              <a:t>: plataforma web de gestión de clientes y contratos para pymes (Chile).</a:t>
            </a:r>
          </a:p>
          <a:p>
            <a:pPr>
              <a:spcAft>
                <a:spcPts val="1200"/>
              </a:spcAft>
            </a:pPr>
            <a:r>
              <a:rPr sz="19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900" b="1" i="0">
                <a:solidFill>
                  <a:srgbClr val="212529"/>
                </a:solidFill>
                <a:latin typeface="Arial"/>
              </a:rPr>
              <a:t>Arquitectura 3 capas:</a:t>
            </a:r>
            <a:r>
              <a:rPr sz="1900" b="0" i="0">
                <a:solidFill>
                  <a:srgbClr val="212529"/>
                </a:solidFill>
                <a:latin typeface="Arial"/>
              </a:rPr>
              <a:t> React + MUI (frontend), Express/Node (API REST), PostgreSQL.</a:t>
            </a:r>
          </a:p>
          <a:p>
            <a:pPr>
              <a:spcAft>
                <a:spcPts val="1200"/>
              </a:spcAft>
            </a:pPr>
            <a:r>
              <a:rPr sz="19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900" b="1" i="0">
                <a:solidFill>
                  <a:srgbClr val="212529"/>
                </a:solidFill>
                <a:latin typeface="Arial"/>
              </a:rPr>
              <a:t>Módulos evaluados:</a:t>
            </a:r>
            <a:r>
              <a:rPr sz="1900" b="0" i="0">
                <a:solidFill>
                  <a:srgbClr val="212529"/>
                </a:solidFill>
                <a:latin typeface="Arial"/>
              </a:rPr>
              <a:t> autenticación, clientes, contratos/documentos, usuarios/roles, métricas y auditoría.</a:t>
            </a:r>
          </a:p>
          <a:p>
            <a:pPr>
              <a:spcAft>
                <a:spcPts val="1200"/>
              </a:spcAft>
            </a:pPr>
            <a:r>
              <a:rPr sz="19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900" b="1" i="0">
                <a:solidFill>
                  <a:srgbClr val="212529"/>
                </a:solidFill>
                <a:latin typeface="Arial"/>
              </a:rPr>
              <a:t>Marco de referencia:</a:t>
            </a:r>
            <a:r>
              <a:rPr sz="1900" b="0" i="0">
                <a:solidFill>
                  <a:srgbClr val="212529"/>
                </a:solidFill>
                <a:latin typeface="Arial"/>
              </a:rPr>
              <a:t> ISO/IEC 25010, ISO/IEC 27001, OWASP Top 10, Ley 19.628 y 21.719.</a:t>
            </a:r>
          </a:p>
          <a:p>
            <a:pPr>
              <a:spcAft>
                <a:spcPts val="1200"/>
              </a:spcAft>
            </a:pPr>
            <a:r>
              <a:rPr sz="19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900" b="1" i="0">
                <a:solidFill>
                  <a:srgbClr val="212529"/>
                </a:solidFill>
                <a:latin typeface="Arial"/>
              </a:rPr>
              <a:t>Objetivo:</a:t>
            </a:r>
            <a:r>
              <a:rPr sz="1900" b="0" i="0">
                <a:solidFill>
                  <a:srgbClr val="212529"/>
                </a:solidFill>
                <a:latin typeface="Arial"/>
              </a:rPr>
              <a:t> determinar con evidencias si el software es apto para producción (certificación).</a:t>
            </a:r>
          </a:p>
          <a:p>
            <a:pPr>
              <a:spcAft>
                <a:spcPts val="1200"/>
              </a:spcAft>
            </a:pPr>
            <a:r>
              <a:rPr sz="19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900" b="1" i="0">
                <a:solidFill>
                  <a:srgbClr val="212529"/>
                </a:solidFill>
                <a:latin typeface="Arial"/>
              </a:rPr>
              <a:t>Entorno:</a:t>
            </a:r>
            <a:r>
              <a:rPr sz="1900" b="0" i="0">
                <a:solidFill>
                  <a:srgbClr val="212529"/>
                </a:solidFill>
                <a:latin typeface="Arial"/>
              </a:rPr>
              <a:t> despliegue Docker en laboratorio — frontend :3350, API :4450, PostgreSQL :15432.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E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Arial"/>
              </a:rPr>
              <a:t>Enfoque estratégico de las pruebas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09728"/>
            <a:ext cx="640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i="0">
                <a:solidFill>
                  <a:srgbClr val="DDE7F0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800" b="1" i="0">
                <a:solidFill>
                  <a:srgbClr val="212529"/>
                </a:solidFill>
                <a:latin typeface="Arial"/>
              </a:rPr>
              <a:t>Enfoque mixto:</a:t>
            </a:r>
            <a:r>
              <a:rPr sz="1800" b="0" i="0">
                <a:solidFill>
                  <a:srgbClr val="212529"/>
                </a:solidFill>
                <a:latin typeface="Arial"/>
              </a:rPr>
              <a:t> ejecución manual reproducible (curl) + análisis estático automatizado + revisión manual de código.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800" b="1" i="0">
                <a:solidFill>
                  <a:srgbClr val="212529"/>
                </a:solidFill>
                <a:latin typeface="Arial"/>
              </a:rPr>
              <a:t>Priorización por riesgo:</a:t>
            </a:r>
            <a:r>
              <a:rPr sz="1800" b="0" i="0">
                <a:solidFill>
                  <a:srgbClr val="212529"/>
                </a:solidFill>
                <a:latin typeface="Arial"/>
              </a:rPr>
              <a:t> primero seguridad (control de acceso, archivos, inyección), luego funcional core, luego no funcional.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800" b="1" i="0">
                <a:solidFill>
                  <a:srgbClr val="212529"/>
                </a:solidFill>
                <a:latin typeface="Arial"/>
              </a:rPr>
              <a:t>Ciclo 1 — Smoke Test:</a:t>
            </a:r>
            <a:r>
              <a:rPr sz="1800" b="0" i="0">
                <a:solidFill>
                  <a:srgbClr val="212529"/>
                </a:solidFill>
                <a:latin typeface="Arial"/>
              </a:rPr>
              <a:t> funciones base (login, salud API, Swagger); si falla, se detiene.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800" b="1" i="0">
                <a:solidFill>
                  <a:srgbClr val="212529"/>
                </a:solidFill>
                <a:latin typeface="Arial"/>
              </a:rPr>
              <a:t>Ciclo 2 — Ejecución:</a:t>
            </a:r>
            <a:r>
              <a:rPr sz="1800" b="0" i="0">
                <a:solidFill>
                  <a:srgbClr val="212529"/>
                </a:solidFill>
                <a:latin typeface="Arial"/>
              </a:rPr>
              <a:t> 12 casos funcionales y de seguridad + pruebas complementarias.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800" b="1" i="0">
                <a:solidFill>
                  <a:srgbClr val="212529"/>
                </a:solidFill>
                <a:latin typeface="Arial"/>
              </a:rPr>
              <a:t>Criterios de entrada:</a:t>
            </a:r>
            <a:r>
              <a:rPr sz="1800" b="0" i="0">
                <a:solidFill>
                  <a:srgbClr val="212529"/>
                </a:solidFill>
                <a:latin typeface="Arial"/>
              </a:rPr>
              <a:t> entorno desplegado, datos semilla, casos revisados.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800" b="1" i="0">
                <a:solidFill>
                  <a:srgbClr val="212529"/>
                </a:solidFill>
                <a:latin typeface="Arial"/>
              </a:rPr>
              <a:t>Criterios de salida:</a:t>
            </a:r>
            <a:r>
              <a:rPr sz="1800" b="0" i="0">
                <a:solidFill>
                  <a:srgbClr val="212529"/>
                </a:solidFill>
                <a:latin typeface="Arial"/>
              </a:rPr>
              <a:t> 100% casos críticos ejecutados, sin defectos críticos abiertos y con evidencia.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E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Arial"/>
              </a:rPr>
              <a:t>Tipos de prueba y justificación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09728"/>
            <a:ext cx="640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i="0">
                <a:solidFill>
                  <a:srgbClr val="DDE7F0"/>
                </a:solidFill>
                <a:latin typeface="Arial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3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7"/>
                <a:gridCol w="5057938"/>
                <a:gridCol w="3793453"/>
              </a:tblGrid>
              <a:tr h="79248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Tipo de prueba</a:t>
                      </a:r>
                    </a:p>
                  </a:txBody>
                  <a:tcPr marL="54864" marR="54864" marT="18288" marB="18288" anchor="ctr">
                    <a:solidFill>
                      <a:srgbClr val="1F3B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¿Qué verifica?</a:t>
                      </a:r>
                    </a:p>
                  </a:txBody>
                  <a:tcPr marL="54864" marR="54864" marT="18288" marB="18288" anchor="ctr">
                    <a:solidFill>
                      <a:srgbClr val="1F3B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Justificación</a:t>
                      </a:r>
                    </a:p>
                  </a:txBody>
                  <a:tcPr marL="54864" marR="54864" marT="18288" marB="18288" anchor="ctr">
                    <a:solidFill>
                      <a:srgbClr val="1F3B57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Funcional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Login, CRUD de clientes, contratos, usuarios, dashboard, auditoría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Cumplimiento de RF-1 a RF-6 del 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Seguridad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Control de acceso, upload de archivos, SQLi, CORS, fuerza bruta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NFR-SEG del ERS; hallazgos del EP1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Integración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Flujo completo frontend → API → PostgreSQL y Swagger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Coherencia de las 3 capas del sistema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Rendimiento (no funcional)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Tiempos de respuesta de CRUD vs umbrales NFR-PERF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Detectar latencia de 4 s del código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Usabilidad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Estados de interfaz, validación de campos y mensajes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NFR-USAB; experiencia de usuario final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E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Arial"/>
              </a:rPr>
              <a:t>Herramientas seleccionadas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09728"/>
            <a:ext cx="640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i="0">
                <a:solidFill>
                  <a:srgbClr val="DDE7F0"/>
                </a:solidFill>
                <a:latin typeface="Arial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015"/>
                <a:gridCol w="4295528"/>
                <a:gridCol w="4425696"/>
              </a:tblGrid>
              <a:tr h="67056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Herramienta</a:t>
                      </a:r>
                    </a:p>
                  </a:txBody>
                  <a:tcPr marL="54864" marR="54864" marT="18288" marB="18288" anchor="ctr">
                    <a:solidFill>
                      <a:srgbClr val="1F3B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Uso en la ejecución</a:t>
                      </a:r>
                    </a:p>
                  </a:txBody>
                  <a:tcPr marL="54864" marR="54864" marT="18288" marB="18288" anchor="ctr">
                    <a:solidFill>
                      <a:srgbClr val="1F3B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Justificación</a:t>
                      </a:r>
                    </a:p>
                  </a:txBody>
                  <a:tcPr marL="54864" marR="54864" marT="18288" marB="18288" anchor="ctr">
                    <a:solidFill>
                      <a:srgbClr val="1F3B57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Docker Compose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Despliegue del entorno completo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Reproduce el ambiente de forma aislada y verificable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curl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Pruebas manuales de la API REST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Control de token, cabeceras y payloads con evidencia HTTP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ESLint 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Análisis estático de calidad de código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Detecta errores y malas prácticas de forma automática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SonarQube 10.6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Análisis estático de seguridad y calidad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Métricas de bugs, vulnerabilidades, hotspots y duplicación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Revisión manual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Auditoría de seguridad del código fuente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Identifica hallazgos que la herramienta no cubre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5778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0">
                <a:solidFill>
                  <a:srgbClr val="606A74"/>
                </a:solidFill>
                <a:latin typeface="Arial"/>
              </a:rPr>
              <a:t>Recursos: 1 líder de QA, 1 tester funcional y 1 tester de seguridad · entorno QA local aislado con datos ficticios.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E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Arial"/>
              </a:rPr>
              <a:t>Ejecución de pruebas: 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09728"/>
            <a:ext cx="640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i="0">
                <a:solidFill>
                  <a:srgbClr val="DDE7F0"/>
                </a:solidFill>
                <a:latin typeface="Arial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3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2302"/>
                <a:gridCol w="6361937"/>
              </a:tblGrid>
              <a:tr h="51435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 marL="54864" marR="54864" marT="18288" marB="18288" anchor="ctr">
                    <a:solidFill>
                      <a:srgbClr val="1F3B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Valor</a:t>
                      </a:r>
                    </a:p>
                  </a:txBody>
                  <a:tcPr marL="54864" marR="54864" marT="18288" marB="18288" anchor="ctr">
                    <a:solidFill>
                      <a:srgbClr val="1F3B57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12529"/>
                          </a:solidFill>
                          <a:latin typeface="Arial"/>
                        </a:rPr>
                        <a:t>Casos diseñados / ejecutados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12529"/>
                          </a:solidFill>
                          <a:latin typeface="Arial"/>
                        </a:rPr>
                        <a:t>12 / 12 (100%)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12529"/>
                          </a:solidFill>
                          <a:latin typeface="Arial"/>
                        </a:rPr>
                        <a:t>Casos aprobados (Pass)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12529"/>
                          </a:solidFill>
                          <a:latin typeface="Arial"/>
                        </a:rPr>
                        <a:t>10 (83%)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12529"/>
                          </a:solidFill>
                          <a:latin typeface="Arial"/>
                        </a:rPr>
                        <a:t>Casos fallidos (Fail)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12529"/>
                          </a:solidFill>
                          <a:latin typeface="Arial"/>
                        </a:rPr>
                        <a:t>2 → CP-010 (upload .exe) y CP-011 (acceso sin token)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12529"/>
                          </a:solidFill>
                          <a:latin typeface="Arial"/>
                        </a:rPr>
                        <a:t>Pruebas de seguridad complementarias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12529"/>
                          </a:solidFill>
                          <a:latin typeface="Arial"/>
                        </a:rPr>
                        <a:t>10 (7 con resultado inseguro)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12529"/>
                          </a:solidFill>
                          <a:latin typeface="Arial"/>
                        </a:rPr>
                        <a:t>Incidentes registrados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12529"/>
                          </a:solidFill>
                          <a:latin typeface="Arial"/>
                        </a:rPr>
                        <a:t>11  →  4 CRITICO · 5 GRAVE · 1 MODERADO · 1 LEVE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12529"/>
                          </a:solidFill>
                          <a:latin typeface="Arial"/>
                        </a:rPr>
                        <a:t>Análisis ESLint / SonarQube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12529"/>
                          </a:solidFill>
                          <a:latin typeface="Arial"/>
                        </a:rPr>
                        <a:t>14 issues / 1 BLOCKER + 4 hotspots + 198 code smells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12529"/>
                          </a:solidFill>
                          <a:latin typeface="Arial"/>
                        </a:rPr>
                        <a:t>Tiempo de respuesta (token válido)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12529"/>
                          </a:solidFill>
                          <a:latin typeface="Arial"/>
                        </a:rPr>
                        <a:t>~4,0 s (latencia artificial)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7150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C0392B"/>
                </a:solidFill>
                <a:latin typeface="Arial"/>
              </a:rPr>
              <a:t>Resultado global: 83% de éxito, con 2 fallos de seguridad CRITICO que bloquean la certificación.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E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Arial"/>
              </a:rPr>
              <a:t>Casos representativos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09728"/>
            <a:ext cx="640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i="0">
                <a:solidFill>
                  <a:srgbClr val="DDE7F0"/>
                </a:solidFill>
                <a:latin typeface="Arial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38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555"/>
                <a:gridCol w="5427740"/>
                <a:gridCol w="2922629"/>
                <a:gridCol w="1461314"/>
              </a:tblGrid>
              <a:tr h="53721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Caso</a:t>
                      </a:r>
                    </a:p>
                  </a:txBody>
                  <a:tcPr marL="54864" marR="54864" marT="18288" marB="18288" anchor="ctr">
                    <a:solidFill>
                      <a:srgbClr val="1F3B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Descripción</a:t>
                      </a:r>
                    </a:p>
                  </a:txBody>
                  <a:tcPr marL="54864" marR="54864" marT="18288" marB="18288" anchor="ctr">
                    <a:solidFill>
                      <a:srgbClr val="1F3B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Resultado</a:t>
                      </a:r>
                    </a:p>
                  </a:txBody>
                  <a:tcPr marL="54864" marR="54864" marT="18288" marB="18288" anchor="ctr">
                    <a:solidFill>
                      <a:srgbClr val="1F3B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Severidad</a:t>
                      </a:r>
                    </a:p>
                  </a:txBody>
                  <a:tcPr marL="54864" marR="54864" marT="18288" marB="18288" anchor="ctr">
                    <a:solidFill>
                      <a:srgbClr val="1F3B57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CP-001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Login con credenciales válidas → emite JWT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Aprobado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CP-010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Adjuntar documento con archivo .exe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C0392B"/>
                          </a:solidFill>
                          <a:latin typeface="Arial"/>
                        </a:rPr>
                        <a:t>FALLÓ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CRITICO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CP-011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GET /contratos/1 sin token (IDOR)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C0392B"/>
                          </a:solidFill>
                          <a:latin typeface="Arial"/>
                        </a:rPr>
                        <a:t>FALLÓ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CRITICO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CP-012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Login con SQLi admin' OR '1'='1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Aprobado (401)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SEG-07b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Upload .exe / .html aceptado por multer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C0392B"/>
                          </a:solidFill>
                          <a:latin typeface="Arial"/>
                        </a:rPr>
                        <a:t>Inseguro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CRITICO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SEG-12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CORS Open (Allow-Origin: *)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C0392B"/>
                          </a:solidFill>
                          <a:latin typeface="Arial"/>
                        </a:rPr>
                        <a:t>Inseguro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GRAVE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FN-02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Tiempo de respuesta GET /clientes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~4,06 s (umbral 300 ms)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12529"/>
                          </a:solidFill>
                          <a:latin typeface="Arial"/>
                        </a:rPr>
                        <a:t>MODERADO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E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Arial"/>
              </a:rPr>
              <a:t>Análisis estático: ESLint y SonarQube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09728"/>
            <a:ext cx="640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i="0">
                <a:solidFill>
                  <a:srgbClr val="DDE7F0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700" b="1" i="0">
                <a:solidFill>
                  <a:srgbClr val="212529"/>
                </a:solidFill>
                <a:latin typeface="Arial"/>
              </a:rPr>
              <a:t>ESLint 9:</a:t>
            </a:r>
            <a:r>
              <a:rPr sz="1700" b="0" i="0">
                <a:solidFill>
                  <a:srgbClr val="212529"/>
                </a:solidFill>
                <a:latin typeface="Arial"/>
              </a:rPr>
              <a:t> 14 issues (11 frontend + 3 backend): variables/imports sin uso y dependencias de hooks.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700" b="1" i="0">
                <a:solidFill>
                  <a:srgbClr val="212529"/>
                </a:solidFill>
                <a:latin typeface="Arial"/>
              </a:rPr>
              <a:t>SonarQube 10.6 — Backend (atlas):</a:t>
            </a:r>
            <a:r>
              <a:rPr sz="1700" b="0" i="0">
                <a:solidFill>
                  <a:srgbClr val="212529"/>
                </a:solidFill>
                <a:latin typeface="Arial"/>
              </a:rPr>
              <a:t> 1 vulnerabilidad BLOCKER (secrets:S6698 en db.js:6), 4 security hotspots, 17 code smells, Security Rating E.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700" b="1" i="0">
                <a:solidFill>
                  <a:srgbClr val="212529"/>
                </a:solidFill>
                <a:latin typeface="Arial"/>
              </a:rPr>
              <a:t>SonarQube 10.6 — Frontend (atlas-frontend):</a:t>
            </a:r>
            <a:r>
              <a:rPr sz="1700" b="0" i="0">
                <a:solidFill>
                  <a:srgbClr val="212529"/>
                </a:solidFill>
                <a:latin typeface="Arial"/>
              </a:rPr>
              <a:t> 1 bug, 181 code smells, complejidad cognitiva CRITICAL (S3776) y APIs deprecadas (S1874).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700" b="1" i="0">
                <a:solidFill>
                  <a:srgbClr val="212529"/>
                </a:solidFill>
                <a:latin typeface="Arial"/>
              </a:rPr>
              <a:t>Los hotspots confirman</a:t>
            </a:r>
            <a:r>
              <a:rPr sz="1700" b="0" i="0">
                <a:solidFill>
                  <a:srgbClr val="212529"/>
                </a:solidFill>
                <a:latin typeface="Arial"/>
              </a:rPr>
              <a:t> exactamente los defectos BUG-003 (upload) y BUG-005 (CORS) hallados en pruebas dinámicas.</a:t>
            </a:r>
          </a:p>
        </p:txBody>
      </p:sp>
      <p:pic>
        <p:nvPicPr>
          <p:cNvPr id="7" name="Picture 6" descr="01-dashboard-back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77639"/>
            <a:ext cx="3200400" cy="2000250"/>
          </a:xfrm>
          <a:prstGeom prst="rect">
            <a:avLst/>
          </a:prstGeom>
        </p:spPr>
      </p:pic>
      <p:pic>
        <p:nvPicPr>
          <p:cNvPr id="8" name="Picture 7" descr="05-security-hotsp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977639"/>
            <a:ext cx="3200400" cy="2000250"/>
          </a:xfrm>
          <a:prstGeom prst="rect">
            <a:avLst/>
          </a:prstGeom>
        </p:spPr>
      </p:pic>
      <p:pic>
        <p:nvPicPr>
          <p:cNvPr id="9" name="Picture 8" descr="03-issues-vulnerabilidad-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3977639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E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Arial"/>
              </a:rPr>
              <a:t>Clasificación de los defectos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09728"/>
            <a:ext cx="640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i="0">
                <a:solidFill>
                  <a:srgbClr val="DDE7F0"/>
                </a:solidFill>
                <a:latin typeface="Arial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92"/>
                <a:gridCol w="3419856"/>
                <a:gridCol w="1005840"/>
                <a:gridCol w="5330952"/>
              </a:tblGrid>
              <a:tr h="8412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Nivel</a:t>
                      </a:r>
                    </a:p>
                  </a:txBody>
                  <a:tcPr marL="54864" marR="54864" marT="18288" marB="18288" anchor="ctr">
                    <a:solidFill>
                      <a:srgbClr val="1F3B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Criterio</a:t>
                      </a:r>
                    </a:p>
                  </a:txBody>
                  <a:tcPr marL="54864" marR="54864" marT="18288" marB="18288" anchor="ctr">
                    <a:solidFill>
                      <a:srgbClr val="1F3B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Cantidad</a:t>
                      </a:r>
                    </a:p>
                  </a:txBody>
                  <a:tcPr marL="54864" marR="54864" marT="18288" marB="18288" anchor="ctr">
                    <a:solidFill>
                      <a:srgbClr val="1F3B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Ejemplos</a:t>
                      </a:r>
                    </a:p>
                  </a:txBody>
                  <a:tcPr marL="54864" marR="54864" marT="18288" marB="18288" anchor="ctr">
                    <a:solidFill>
                      <a:srgbClr val="1F3B57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12529"/>
                          </a:solidFill>
                          <a:latin typeface="Arial"/>
                        </a:rPr>
                        <a:t>CRITICO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12529"/>
                          </a:solidFill>
                          <a:latin typeface="Arial"/>
                        </a:rPr>
                        <a:t>Impide operar o expone datos sensibles; no certifiable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12529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12529"/>
                          </a:solidFill>
                          <a:latin typeface="Arial"/>
                        </a:rPr>
                        <a:t>BUG-001 IDOR · BUG-002 credenciales texto claro · BUG-003 upload · BUG-011 secreto en código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12529"/>
                          </a:solidFill>
                          <a:latin typeface="Arial"/>
                        </a:rPr>
                        <a:t>GRAVE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12529"/>
                          </a:solidFill>
                          <a:latin typeface="Arial"/>
                        </a:rPr>
                        <a:t>Afecta funciones importantes o la superficie de ataque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1252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12529"/>
                          </a:solidFill>
                          <a:latin typeface="Arial"/>
                        </a:rPr>
                        <a:t>JWT_SECRET "inseguro" · CORS * · sin rate-limit · errores 500 · localStorage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12529"/>
                          </a:solidFill>
                          <a:latin typeface="Arial"/>
                        </a:rPr>
                        <a:t>MODERADO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12529"/>
                          </a:solidFill>
                          <a:latin typeface="Arial"/>
                        </a:rPr>
                        <a:t>Afecta funciones secundarias sin detener el flujo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1252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12529"/>
                          </a:solidFill>
                          <a:latin typeface="Arial"/>
                        </a:rPr>
                        <a:t>BUG-010 latencia artificial de 4 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12529"/>
                          </a:solidFill>
                          <a:latin typeface="Arial"/>
                        </a:rPr>
                        <a:t>LEVE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12529"/>
                          </a:solidFill>
                          <a:latin typeface="Arial"/>
                        </a:rPr>
                        <a:t>Apariencia o código sin impacto funcional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1252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12529"/>
                          </a:solidFill>
                          <a:latin typeface="Arial"/>
                        </a:rPr>
                        <a:t>BUG-009 code smells ESLint</a:t>
                      </a:r>
                    </a:p>
                  </a:txBody>
                  <a:tcPr marL="54864" marR="54864" marT="18288" marB="18288" anchor="ctr">
                    <a:solidFill>
                      <a:srgbClr val="DDE7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8521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C0392B"/>
                </a:solidFill>
                <a:latin typeface="Arial"/>
              </a:rPr>
              <a:t>Regla: un software con defectos CRITICO abiertos nunca debe ser certificado.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E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Arial"/>
              </a:rPr>
              <a:t>Evidencias (SonarQube)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09728"/>
            <a:ext cx="640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i="0">
                <a:solidFill>
                  <a:srgbClr val="DDE7F0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02-dashboard-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286000"/>
          </a:xfrm>
          <a:prstGeom prst="rect">
            <a:avLst/>
          </a:prstGeom>
        </p:spPr>
      </p:pic>
      <p:pic>
        <p:nvPicPr>
          <p:cNvPr id="7" name="Picture 6" descr="04-issues-code-smells-back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71600"/>
            <a:ext cx="3657600" cy="2286000"/>
          </a:xfrm>
          <a:prstGeom prst="rect">
            <a:avLst/>
          </a:prstGeom>
        </p:spPr>
      </p:pic>
      <p:pic>
        <p:nvPicPr>
          <p:cNvPr id="8" name="Picture 7" descr="06-issues-front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371600"/>
            <a:ext cx="3657600" cy="2286000"/>
          </a:xfrm>
          <a:prstGeom prst="rect">
            <a:avLst/>
          </a:prstGeom>
        </p:spPr>
      </p:pic>
      <p:pic>
        <p:nvPicPr>
          <p:cNvPr id="9" name="Picture 8" descr="07-quality-g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3794760"/>
            <a:ext cx="3657600" cy="2286000"/>
          </a:xfrm>
          <a:prstGeom prst="rect">
            <a:avLst/>
          </a:prstGeom>
        </p:spPr>
      </p:pic>
      <p:pic>
        <p:nvPicPr>
          <p:cNvPr id="10" name="Picture 9" descr="08-projects-over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794760"/>
            <a:ext cx="365760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26364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0">
                <a:solidFill>
                  <a:srgbClr val="606A74"/>
                </a:solidFill>
                <a:latin typeface="Arial"/>
              </a:rPr>
              <a:t>Capturas del servidor SonarQube local (proyectos atlas y atlas-frontend).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E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Arial"/>
              </a:rPr>
              <a:t>Reflexiones: calidad, seguridad, normativa y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09728"/>
            <a:ext cx="640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i="0">
                <a:solidFill>
                  <a:srgbClr val="DDE7F0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700" b="1" i="0">
                <a:solidFill>
                  <a:srgbClr val="212529"/>
                </a:solidFill>
                <a:latin typeface="Arial"/>
              </a:rPr>
              <a:t>Calidad:</a:t>
            </a:r>
            <a:r>
              <a:rPr sz="1700" b="0" i="0">
                <a:solidFill>
                  <a:srgbClr val="212529"/>
                </a:solidFill>
                <a:latin typeface="Arial"/>
              </a:rPr>
              <a:t> base funcional correcta (83% Pass), pero deuda técnica alta en el frontend (181 code smells) y bug de compatibilidad React 19.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700" b="1" i="0">
                <a:solidFill>
                  <a:srgbClr val="212529"/>
                </a:solidFill>
                <a:latin typeface="Arial"/>
              </a:rPr>
              <a:t>Seguridad:</a:t>
            </a:r>
            <a:r>
              <a:rPr sz="1700" b="0" i="0">
                <a:solidFill>
                  <a:srgbClr val="212529"/>
                </a:solidFill>
                <a:latin typeface="Arial"/>
              </a:rPr>
              <a:t> 4 defectos CRITICO: control de acceso roto, credenciales en texto claro, upload sin validar y secretos en código → OWASP A01, A02, A07, A08.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700" b="1" i="0">
                <a:solidFill>
                  <a:srgbClr val="212529"/>
                </a:solidFill>
                <a:latin typeface="Arial"/>
              </a:rPr>
              <a:t>Normativo:</a:t>
            </a:r>
            <a:r>
              <a:rPr sz="1700" b="0" i="0">
                <a:solidFill>
                  <a:srgbClr val="212529"/>
                </a:solidFill>
                <a:latin typeface="Arial"/>
              </a:rPr>
              <a:t> la exposición de datos personales y el manejo de contraseñas incumplen Ley 19.628 / 21.719 e ISO/IEC 27001 (A.9.4, A.10).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700" b="1" i="0">
                <a:solidFill>
                  <a:srgbClr val="212529"/>
                </a:solidFill>
                <a:latin typeface="Arial"/>
              </a:rPr>
              <a:t>Legal:</a:t>
            </a:r>
            <a:r>
              <a:rPr sz="1700" b="0" i="0">
                <a:solidFill>
                  <a:srgbClr val="212529"/>
                </a:solidFill>
                <a:latin typeface="Arial"/>
              </a:rPr>
              <a:t> los datos de clientes no deben ser accesibles sin autorización; la divulgación se limita al ámbito académico (uso responsable).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700" b="1" i="0">
                <a:solidFill>
                  <a:srgbClr val="212529"/>
                </a:solidFill>
                <a:latin typeface="Arial"/>
              </a:rPr>
              <a:t>Ética:</a:t>
            </a:r>
            <a:r>
              <a:rPr sz="1700" b="0" i="0">
                <a:solidFill>
                  <a:srgbClr val="212529"/>
                </a:solidFill>
                <a:latin typeface="Arial"/>
              </a:rPr>
              <a:t> reporte transparente, sin ocultar hallazgos, con evidencia reproducible y sin usar datos reales.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E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Arial"/>
              </a:rPr>
              <a:t>Dictamen y acciones correctivas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09728"/>
            <a:ext cx="640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i="0">
                <a:solidFill>
                  <a:srgbClr val="DDE7F0"/>
                </a:solidFill>
                <a:latin typeface="Arial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881360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Arial"/>
              </a:rPr>
              <a:t>DICTAMEN: NO CERTIFICADO — requiere ciclo de corrección antes de producción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106984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600" b="0" i="0">
                <a:solidFill>
                  <a:srgbClr val="212529"/>
                </a:solidFill>
                <a:latin typeface="Arial"/>
              </a:rPr>
              <a:t>Middleware de autenticación global (JWT) en todos los endpoints (BUG-001).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600" b="0" i="0">
                <a:solidFill>
                  <a:srgbClr val="212529"/>
                </a:solidFill>
                <a:latin typeface="Arial"/>
              </a:rPr>
              <a:t>Hash seguro de contraseñas (bcrypt/argon2) y eliminación de credenciales por defecto (BUG-002).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600" b="0" i="0">
                <a:solidFill>
                  <a:srgbClr val="212529"/>
                </a:solidFill>
                <a:latin typeface="Arial"/>
              </a:rPr>
              <a:t>Validación de tipo MIME/extensión en uploads — solo PDF (BUG-003).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600" b="0" i="0">
                <a:solidFill>
                  <a:srgbClr val="212529"/>
                </a:solidFill>
                <a:latin typeface="Arial"/>
              </a:rPr>
              <a:t>Secretos (JWT_SECRET y BD) fuera del código, en variables de entorno (BUG-004, BUG-011).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600" b="0" i="0">
                <a:solidFill>
                  <a:srgbClr val="212529"/>
                </a:solidFill>
                <a:latin typeface="Arial"/>
              </a:rPr>
              <a:t>Restringir CORS, agregar rate-limit, transacciones y errores genéricos (BUG-005/006/007).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E6EA4"/>
                </a:solidFill>
                <a:latin typeface="Arial"/>
              </a:rPr>
              <a:t>▪  </a:t>
            </a:r>
            <a:r>
              <a:rPr sz="1600" b="0" i="0">
                <a:solidFill>
                  <a:srgbClr val="212529"/>
                </a:solidFill>
                <a:latin typeface="Arial"/>
              </a:rPr>
              <a:t>Cookies httpOnly, corrección de code smells y Quality Gate de seguridad en CI (BUG-008/009).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73152"/>
          </a:xfrm>
          <a:prstGeom prst="rect">
            <a:avLst/>
          </a:prstGeom>
          <a:solidFill>
            <a:srgbClr val="2E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 i="0">
                <a:solidFill>
                  <a:srgbClr val="DDE7F0"/>
                </a:solidFill>
                <a:latin typeface="Arial"/>
              </a:rPr>
              <a:t>Preguntas y respaldo técnico</a:t>
            </a:r>
          </a:p>
          <a:p>
            <a:r>
              <a:rPr sz="1600" b="0" i="0">
                <a:solidFill>
                  <a:srgbClr val="DDE7F0"/>
                </a:solidFill>
                <a:latin typeface="Arial"/>
              </a:rPr>
              <a:t>Luis Tasso · Miguel Arredondo · Nicolas Iturrieta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
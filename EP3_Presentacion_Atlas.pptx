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200" b="1" i="0">
                <a:solidFill>
                  <a:srgbClr val="FFFFFF"/>
                </a:solidFill>
                <a:latin typeface="Arial"/>
              </a:rPr>
              <a:t>Informe de Seguridad y Calidad</a:t>
            </a:r>
          </a:p>
          <a:p>
            <a:r>
              <a:rPr sz="3000" b="1" i="0">
                <a:solidFill>
                  <a:srgbClr val="DDE7F0"/>
                </a:solidFill>
                <a:latin typeface="Arial"/>
              </a:rPr>
              <a:t>Certificación del Sistema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DDE7F0"/>
                </a:solidFill>
                <a:latin typeface="Arial"/>
              </a:rPr>
              <a:t>Evaluación Parcial N.º 3 · ISY1102 — Seguridad y Calidad en el Desarrollo de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Integrantes:  Luis Tasso · Miguel Arredondo · Nicolas Iturrieta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Carrera: Ingeniería en Desarrollo de Software    ·    Sección 002V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Docente: Christian Rodrigo Alvarez Lobos    ·    Fecha: 17 de octubre de 2026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C0392B"/>
                </a:solidFill>
                <a:latin typeface="Arial"/>
              </a:rPr>
              <a:t>Dictamen: NO CERTIFICADO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Contenido de la presentación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Contexto del sistema (Atlas) y alcance de la verificación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Enfoque estratégico de las pruebas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Tipos de prueba y su justificación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Herramientas seleccionadas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Ejecución de pruebas: resultados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Análisis estático: ESLint y SonarQube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Clasificación de los defectos identificados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Reflexiones de calidad, seguridad, normativa y legal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2000" b="0" i="0">
                <a:solidFill>
                  <a:srgbClr val="212529"/>
                </a:solidFill>
                <a:latin typeface="Arial"/>
              </a:rPr>
              <a:t>Dictamen y acciones correctivas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Contexto y 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9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900" b="1" i="0">
                <a:solidFill>
                  <a:srgbClr val="212529"/>
                </a:solidFill>
                <a:latin typeface="Arial"/>
              </a:rPr>
              <a:t>Atlas</a:t>
            </a:r>
            <a:r>
              <a:rPr sz="1900" b="0" i="0">
                <a:solidFill>
                  <a:srgbClr val="212529"/>
                </a:solidFill>
                <a:latin typeface="Arial"/>
              </a:rPr>
              <a:t>: plataforma web de gestión de clientes y contratos para pymes (Chile).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900" b="1" i="0">
                <a:solidFill>
                  <a:srgbClr val="212529"/>
                </a:solidFill>
                <a:latin typeface="Arial"/>
              </a:rPr>
              <a:t>Arquitectura 3 capas:</a:t>
            </a:r>
            <a:r>
              <a:rPr sz="1900" b="0" i="0">
                <a:solidFill>
                  <a:srgbClr val="212529"/>
                </a:solidFill>
                <a:latin typeface="Arial"/>
              </a:rPr>
              <a:t> React + MUI (frontend), Express/Node (API REST), PostgreSQL.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900" b="1" i="0">
                <a:solidFill>
                  <a:srgbClr val="212529"/>
                </a:solidFill>
                <a:latin typeface="Arial"/>
              </a:rPr>
              <a:t>Módulos evaluados:</a:t>
            </a:r>
            <a:r>
              <a:rPr sz="1900" b="0" i="0">
                <a:solidFill>
                  <a:srgbClr val="212529"/>
                </a:solidFill>
                <a:latin typeface="Arial"/>
              </a:rPr>
              <a:t> autenticación, clientes, contratos/documentos, usuarios/roles, métricas y auditoría.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900" b="1" i="0">
                <a:solidFill>
                  <a:srgbClr val="212529"/>
                </a:solidFill>
                <a:latin typeface="Arial"/>
              </a:rPr>
              <a:t>Marco de referencia:</a:t>
            </a:r>
            <a:r>
              <a:rPr sz="1900" b="0" i="0">
                <a:solidFill>
                  <a:srgbClr val="212529"/>
                </a:solidFill>
                <a:latin typeface="Arial"/>
              </a:rPr>
              <a:t> ISO/IEC 25010, ISO/IEC 27001, OWASP Top 10, Ley 19.628 y 21.719.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900" b="1" i="0">
                <a:solidFill>
                  <a:srgbClr val="212529"/>
                </a:solidFill>
                <a:latin typeface="Arial"/>
              </a:rPr>
              <a:t>Objetivo:</a:t>
            </a:r>
            <a:r>
              <a:rPr sz="1900" b="0" i="0">
                <a:solidFill>
                  <a:srgbClr val="212529"/>
                </a:solidFill>
                <a:latin typeface="Arial"/>
              </a:rPr>
              <a:t> determinar con evidencias si el software es apto para producción (certificación).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900" b="1" i="0">
                <a:solidFill>
                  <a:srgbClr val="212529"/>
                </a:solidFill>
                <a:latin typeface="Arial"/>
              </a:rPr>
              <a:t>Entorno:</a:t>
            </a:r>
            <a:r>
              <a:rPr sz="1900" b="0" i="0">
                <a:solidFill>
                  <a:srgbClr val="212529"/>
                </a:solidFill>
                <a:latin typeface="Arial"/>
              </a:rPr>
              <a:t> despliegue Docker en laboratorio — frontend :3350, API :4450, PostgreSQL :15432.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Enfoque estratégico de las pruebas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800" b="1" i="0">
                <a:solidFill>
                  <a:srgbClr val="212529"/>
                </a:solidFill>
                <a:latin typeface="Arial"/>
              </a:rPr>
              <a:t>Enfoque mixto:</a:t>
            </a:r>
            <a:r>
              <a:rPr sz="1800" b="0" i="0">
                <a:solidFill>
                  <a:srgbClr val="212529"/>
                </a:solidFill>
                <a:latin typeface="Arial"/>
              </a:rPr>
              <a:t> ejecución manual reproducible (curl) + análisis estático automatizado + revisión manual de código.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800" b="1" i="0">
                <a:solidFill>
                  <a:srgbClr val="212529"/>
                </a:solidFill>
                <a:latin typeface="Arial"/>
              </a:rPr>
              <a:t>Priorización por riesgo:</a:t>
            </a:r>
            <a:r>
              <a:rPr sz="1800" b="0" i="0">
                <a:solidFill>
                  <a:srgbClr val="212529"/>
                </a:solidFill>
                <a:latin typeface="Arial"/>
              </a:rPr>
              <a:t> primero seguridad (control de acceso, archivos, inyección), luego funcional core, luego no funcional.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800" b="1" i="0">
                <a:solidFill>
                  <a:srgbClr val="212529"/>
                </a:solidFill>
                <a:latin typeface="Arial"/>
              </a:rPr>
              <a:t>Ciclo 1 — Smoke Test:</a:t>
            </a:r>
            <a:r>
              <a:rPr sz="1800" b="0" i="0">
                <a:solidFill>
                  <a:srgbClr val="212529"/>
                </a:solidFill>
                <a:latin typeface="Arial"/>
              </a:rPr>
              <a:t> funciones base (login, salud API, Swagger); si falla, se detiene.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800" b="1" i="0">
                <a:solidFill>
                  <a:srgbClr val="212529"/>
                </a:solidFill>
                <a:latin typeface="Arial"/>
              </a:rPr>
              <a:t>Ciclo 2 — Ejecución:</a:t>
            </a:r>
            <a:r>
              <a:rPr sz="1800" b="0" i="0">
                <a:solidFill>
                  <a:srgbClr val="212529"/>
                </a:solidFill>
                <a:latin typeface="Arial"/>
              </a:rPr>
              <a:t> 12 casos funcionales y de seguridad + pruebas complementarias.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800" b="1" i="0">
                <a:solidFill>
                  <a:srgbClr val="212529"/>
                </a:solidFill>
                <a:latin typeface="Arial"/>
              </a:rPr>
              <a:t>Criterios de entrada:</a:t>
            </a:r>
            <a:r>
              <a:rPr sz="1800" b="0" i="0">
                <a:solidFill>
                  <a:srgbClr val="212529"/>
                </a:solidFill>
                <a:latin typeface="Arial"/>
              </a:rPr>
              <a:t> entorno desplegado, datos semilla, casos revisados.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800" b="1" i="0">
                <a:solidFill>
                  <a:srgbClr val="212529"/>
                </a:solidFill>
                <a:latin typeface="Arial"/>
              </a:rPr>
              <a:t>Criterios de salida:</a:t>
            </a:r>
            <a:r>
              <a:rPr sz="1800" b="0" i="0">
                <a:solidFill>
                  <a:srgbClr val="212529"/>
                </a:solidFill>
                <a:latin typeface="Arial"/>
              </a:rPr>
              <a:t> 100% casos críticos ejecutados, sin defectos críticos abiertos y con evidencia.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Tipos de prueba y justificación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3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7"/>
                <a:gridCol w="5057938"/>
                <a:gridCol w="3793453"/>
              </a:tblGrid>
              <a:tr h="7924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Tipo de prueba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¿Qué verifica?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Justificación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Funcional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Login, CRUD de clientes, contratos, usuarios, dashboard, auditoría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Cumplimiento de RF-1 a RF-6 del 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Seguridad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Control de acceso, upload de archivos, SQLi, CORS, fuerza bruta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NFR-SEG del ERS; hallazgos del EP1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Integración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Flujo completo frontend → API → PostgreSQL y Swagger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Coherencia de las 3 capas del sistema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Rendimiento (no funcional)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Tiempos de respuesta de CRUD vs umbrales NFR-PERF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Detectar latencia de 4 s del código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Usabilidad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Estados de interfaz, validación de campos y mensajes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NFR-USAB; experiencia de usuario final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Herramientas seleccionadas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3015"/>
                <a:gridCol w="4295528"/>
                <a:gridCol w="4425696"/>
              </a:tblGrid>
              <a:tr h="6705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Herramienta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Uso en la ejecución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Justificación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Docker Compose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Despliegue del entorno completo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Reproduce el ambiente de forma aislada y verificable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curl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Pruebas manuales de la API REST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Control de token, cabeceras y payloads con evidencia HTTP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ESLint 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Análisis estático de calidad de código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Detecta errores y malas prácticas de forma automática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SonarQube 10.6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Análisis estático de seguridad y calidad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Métricas de bugs, vulnerabilidades, hotspots y duplicación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Revisión manual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Auditoría de seguridad del código fuente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Identifica hallazgos que la herramienta no cubre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778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606A74"/>
                </a:solidFill>
                <a:latin typeface="Arial"/>
              </a:rPr>
              <a:t>Recursos: 1 líder de QA, 1 tester funcional y 1 tester de seguridad · entorno QA local aislado con datos ficticios.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Ejecución de pruebas: resumen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3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2302"/>
                <a:gridCol w="6361937"/>
              </a:tblGrid>
              <a:tr h="51435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Casos diseñados / ejecutados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12 / 12 (100%)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Casos aprobados (Pass)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10 (83%)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Casos fallidos (Fail)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2 → CP-010 (upload .exe) y CP-011 (acceso sin token)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Pruebas de seguridad complementarias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10 (7 con resultado inseguro)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Incidentes registrados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11  →  4 CRITICO · 5 GRAVE · 1 MODERADO · 1 LEVE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Análisis ESLint / SonarQube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14 issues / 1 BLOCKER + 4 hotspots + 198 code smells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Tiempo de respuesta (token válido)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12529"/>
                          </a:solidFill>
                          <a:latin typeface="Arial"/>
                        </a:rPr>
                        <a:t>~4,0 s (latencia artificial)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Resultado global: 83% de éxito, con 2 fallos de seguridad CRITICO que bloquean la certificación.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Casos representativos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38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2555"/>
                <a:gridCol w="5427740"/>
                <a:gridCol w="2922629"/>
                <a:gridCol w="1461314"/>
              </a:tblGrid>
              <a:tr h="53721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Caso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Descripción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Resultado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Severidad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CP-001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Login con credenciales válidas → emite JWT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Aprobado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CP-010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Adjuntar documento con archivo .exe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C0392B"/>
                          </a:solidFill>
                          <a:latin typeface="Arial"/>
                        </a:rPr>
                        <a:t>FALLÓ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CRITICO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CP-011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GET /contratos/1 sin token (IDOR)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C0392B"/>
                          </a:solidFill>
                          <a:latin typeface="Arial"/>
                        </a:rPr>
                        <a:t>FALLÓ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CRITICO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CP-012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Login con SQLi admin' OR '1'='1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Aprobado (401)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SEG-07b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Upload .exe / .html aceptado por multer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C0392B"/>
                          </a:solidFill>
                          <a:latin typeface="Arial"/>
                        </a:rPr>
                        <a:t>Inseguro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CRITICO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SEG-12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CORS Open (Allow-Origin: *)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C0392B"/>
                          </a:solidFill>
                          <a:latin typeface="Arial"/>
                        </a:rPr>
                        <a:t>Inseguro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GRAVE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FN-02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Tiempo de respuesta GET /clientes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~4,06 s (umbral 300 ms)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12529"/>
                          </a:solidFill>
                          <a:latin typeface="Arial"/>
                        </a:rPr>
                        <a:t>MODERADO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Análisis estático: ESLint y SonarQube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ESLint 9: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14 issues (11 frontend + 3 backend): variables/imports sin uso y dependencias de hooks.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SonarQube 10.6 — Backend (atlas):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1 vulnerabilidad BLOCKER (secrets:S6698 en db.js:6), 4 security hotspots, 17 code smells, Security Rating E.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SonarQube 10.6 — Frontend (atlas-frontend):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1 bug, 181 code smells, complejidad cognitiva CRITICAL (S3776) y APIs deprecadas (S1874).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Los hotspots confirman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exactamente los defectos BUG-003 (upload) y BUG-005 (CORS) hallados en pruebas dinámicas.</a:t>
            </a:r>
          </a:p>
        </p:txBody>
      </p:sp>
      <p:pic>
        <p:nvPicPr>
          <p:cNvPr id="7" name="Picture 6" descr="01-dashboard-back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77639"/>
            <a:ext cx="3200400" cy="2000250"/>
          </a:xfrm>
          <a:prstGeom prst="rect">
            <a:avLst/>
          </a:prstGeom>
        </p:spPr>
      </p:pic>
      <p:pic>
        <p:nvPicPr>
          <p:cNvPr id="8" name="Picture 7" descr="05-security-hotsp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3977639"/>
            <a:ext cx="3200400" cy="2000250"/>
          </a:xfrm>
          <a:prstGeom prst="rect">
            <a:avLst/>
          </a:prstGeom>
        </p:spPr>
      </p:pic>
      <p:pic>
        <p:nvPicPr>
          <p:cNvPr id="9" name="Picture 8" descr="03-issues-vulnerabilidad-d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3977639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Clasificación de los defectos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7592"/>
                <a:gridCol w="3419856"/>
                <a:gridCol w="1005840"/>
                <a:gridCol w="5330952"/>
              </a:tblGrid>
              <a:tr h="84124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Nivel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Criterio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Cantidad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Ejemplos</a:t>
                      </a:r>
                    </a:p>
                  </a:txBody>
                  <a:tcPr marL="54864" marR="54864" marT="18288" marB="18288" anchor="ctr">
                    <a:solidFill>
                      <a:srgbClr val="1F3B57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CRITICO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Impide operar o expone datos sensibles; no certifiable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BUG-001 IDOR · BUG-002 credenciales texto claro · BUG-003 upload · BUG-011 secreto en código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GRAVE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Afecta funciones importantes o la superficie de ataque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JWT_SECRET "inseguro" · CORS * · sin rate-limit · errores 500 · localStorage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MODERADO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Afecta funciones secundarias sin detener el flujo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BUG-010 latencia artificial de 4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LEVE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Apariencia o código sin impacto funcional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12529"/>
                          </a:solidFill>
                          <a:latin typeface="Arial"/>
                        </a:rPr>
                        <a:t>BUG-009 code smells ESLint</a:t>
                      </a:r>
                    </a:p>
                  </a:txBody>
                  <a:tcPr marL="54864" marR="54864" marT="18288" marB="18288" anchor="ctr">
                    <a:solidFill>
                      <a:srgbClr val="DDE7F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521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Regla: un software con defectos CRITICO abiertos nunca debe ser certificado.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Evidencias (SonarQube)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02-dashboard-fron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657600" cy="2286000"/>
          </a:xfrm>
          <a:prstGeom prst="rect">
            <a:avLst/>
          </a:prstGeom>
        </p:spPr>
      </p:pic>
      <p:pic>
        <p:nvPicPr>
          <p:cNvPr id="7" name="Picture 6" descr="04-issues-code-smells-back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371600"/>
            <a:ext cx="3657600" cy="2286000"/>
          </a:xfrm>
          <a:prstGeom prst="rect">
            <a:avLst/>
          </a:prstGeom>
        </p:spPr>
      </p:pic>
      <p:pic>
        <p:nvPicPr>
          <p:cNvPr id="8" name="Picture 7" descr="06-issues-front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371600"/>
            <a:ext cx="3657600" cy="2286000"/>
          </a:xfrm>
          <a:prstGeom prst="rect">
            <a:avLst/>
          </a:prstGeom>
        </p:spPr>
      </p:pic>
      <p:pic>
        <p:nvPicPr>
          <p:cNvPr id="9" name="Picture 8" descr="07-quality-g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7440" y="3794760"/>
            <a:ext cx="3657600" cy="2286000"/>
          </a:xfrm>
          <a:prstGeom prst="rect">
            <a:avLst/>
          </a:prstGeom>
        </p:spPr>
      </p:pic>
      <p:pic>
        <p:nvPicPr>
          <p:cNvPr id="10" name="Picture 9" descr="08-projects-overvie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794760"/>
            <a:ext cx="3657600" cy="22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26364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i="0">
                <a:solidFill>
                  <a:srgbClr val="606A74"/>
                </a:solidFill>
                <a:latin typeface="Arial"/>
              </a:rPr>
              <a:t>Capturas del servidor SonarQube local (proyectos atlas y atlas-frontend).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Reflexiones: calidad, seguridad, normativa y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Calidad: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base funcional correcta (83% Pass), pero deuda técnica alta en el frontend (181 code smells) y bug de compatibilidad React 19.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Seguridad: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4 defectos CRITICO: control de acceso roto, credenciales en texto claro, upload sin validar y secretos en código → OWASP A01, A02, A07, A08.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Normativo: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la exposición de datos personales y el manejo de contraseñas incumplen Ley 19.628 / 21.719 e ISO/IEC 27001 (A.9.4, A.10).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Legal: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los datos de clientes no deben ser accesibles sin autorización; la divulgación se limita al ámbito académico (uso responsable).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700" b="1" i="0">
                <a:solidFill>
                  <a:srgbClr val="212529"/>
                </a:solidFill>
                <a:latin typeface="Arial"/>
              </a:rPr>
              <a:t>Ética:</a:t>
            </a:r>
            <a:r>
              <a:rPr sz="1700" b="0" i="0">
                <a:solidFill>
                  <a:srgbClr val="212529"/>
                </a:solidFill>
                <a:latin typeface="Arial"/>
              </a:rPr>
              <a:t> reporte transparente, sin ocultar hallazgos, con evidencia reproducible y sin usar datos reales.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Dictamen y acciones correctivas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09728"/>
            <a:ext cx="640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000" b="1" i="0">
                <a:solidFill>
                  <a:srgbClr val="DDE7F0"/>
                </a:solidFill>
                <a:latin typeface="Arial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10881360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515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Arial"/>
              </a:rPr>
              <a:t>DICTAMEN: NO CERTIFICADO — requiere ciclo de corrección antes de producción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0698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600" b="0" i="0">
                <a:solidFill>
                  <a:srgbClr val="212529"/>
                </a:solidFill>
                <a:latin typeface="Arial"/>
              </a:rPr>
              <a:t>Middleware de autenticación global (JWT) en todos los endpoints (BUG-001).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600" b="0" i="0">
                <a:solidFill>
                  <a:srgbClr val="212529"/>
                </a:solidFill>
                <a:latin typeface="Arial"/>
              </a:rPr>
              <a:t>Hash seguro de contraseñas (bcrypt/argon2) y eliminación de credenciales por defecto (BUG-002).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600" b="0" i="0">
                <a:solidFill>
                  <a:srgbClr val="212529"/>
                </a:solidFill>
                <a:latin typeface="Arial"/>
              </a:rPr>
              <a:t>Validación de tipo MIME/extensión en uploads — solo PDF (BUG-003).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600" b="0" i="0">
                <a:solidFill>
                  <a:srgbClr val="212529"/>
                </a:solidFill>
                <a:latin typeface="Arial"/>
              </a:rPr>
              <a:t>Secretos (JWT_SECRET y BD) fuera del código, en variables de entorno (BUG-004, BUG-011).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600" b="0" i="0">
                <a:solidFill>
                  <a:srgbClr val="212529"/>
                </a:solidFill>
                <a:latin typeface="Arial"/>
              </a:rPr>
              <a:t>Restringir CORS, agregar rate-limit, transacciones y errores genéricos (BUG-005/006/007).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E6EA4"/>
                </a:solidFill>
                <a:latin typeface="Arial"/>
              </a:rPr>
              <a:t>▪  </a:t>
            </a:r>
            <a:r>
              <a:rPr sz="1600" b="0" i="0">
                <a:solidFill>
                  <a:srgbClr val="212529"/>
                </a:solidFill>
                <a:latin typeface="Arial"/>
              </a:rPr>
              <a:t>Cookies httpOnly, corrección de code smells y Quality Gate de seguridad en CI (BUG-008/009).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2E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Arial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 i="0">
                <a:solidFill>
                  <a:srgbClr val="DDE7F0"/>
                </a:solidFill>
                <a:latin typeface="Arial"/>
              </a:rPr>
              <a:t>Preguntas y respaldo técnico</a:t>
            </a:r>
          </a:p>
          <a:p>
            <a:r>
              <a:rPr sz="1600" b="0" i="0">
                <a:solidFill>
                  <a:srgbClr val="DDE7F0"/>
                </a:solidFill>
                <a:latin typeface="Arial"/>
              </a:rPr>
              <a:t>Luis Tasso · Miguel Arredondo · Nicolas Iturrieta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
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a585958d-e164-aa03-8b9f-8e312e886800}">
          <p14:sldIdLst>
            <p14:sldId id="256"/>
            <p14:sldId id="257"/>
          </p14:sldIdLst>
        </p14:section>
        <p14:section name="Contexto y estrategia" id="{296c1f82-1eb5-318e-44b0-a3decc3992eb}">
          <p14:sldIdLst>
            <p14:sldId id="258"/>
            <p14:sldId id="259"/>
            <p14:sldId id="260"/>
            <p14:sldId id="261"/>
          </p14:sldIdLst>
        </p14:section>
        <p14:section name="Ejecución y resultados" id="{88667aba-b578-b56f-c77a-2eee2c172064}">
          <p14:sldIdLst>
            <p14:sldId id="262"/>
            <p14:sldId id="263"/>
            <p14:sldId id="264"/>
            <p14:sldId id="265"/>
          </p14:sldIdLst>
        </p14:section>
        <p14:section name="Análisis y defectos" id="{b880adc6-b543-6ca0-33a7-61a45c5262da}">
          <p14:sldIdLst>
            <p14:sldId id="266"/>
            <p14:sldId id="267"/>
            <p14:sldId id="268"/>
          </p14:sldIdLst>
        </p14:section>
        <p14:section name="Conclusiones" id="{af93c723-96ca-b212-234a-0f82124eefd3}">
          <p14:sldIdLst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72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172A"/>
                </a:solidFill>
                <a:latin typeface="+mn-lt"/>
              </a:rPr>
              <a:t>Incidentes registrados: 11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Incidentes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0F17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AB30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8BDF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CRITICO</c:v>
                  </c:pt>
                  <c:pt idx="1">
                    <c:v>GRAVE</c:v>
                  </c:pt>
                  <c:pt idx="2">
                    <c:v>MODERADO</c:v>
                  </c:pt>
                  <c:pt idx="3">
                    <c:v>LEVE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5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0F17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0:00 - 0:45 | ORADOR: Integrante 1
GUION: 'Buenos días profesor y compañeros. Hoy presentamos nuestro informe de certificación técnica y auditoría de seguridad para el Sistema de Gestión Atlas, correspondiente a la Evaluación Parcial 3 y 4 de ISY1102. Nuestro equipo está conformado por Luis Tasso, Miguel Arredondo y Nicolas Iturrieta. A diferencia de la primera etapa donde diseñamos el plan teórico, en esta fase desplegamos el software en contenedores Docker y ejecutamos pruebas reales de penetración, análisis estático y verificación funcional. Adelantamos desde ya nuestro veredicto técnico: el sistema queda formalmente NO CERTIFICADO por vulnerabilidades críticas que comprometen la legalidad y seguridad del negocio.'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0:45 - 1:15 | ORADOR: Integrante 1
GUION: 'La presentación se estructura en 9 puntos esenciales: contextualizaremos la arquitectura del sistema Atlas; explicaremos el enfoque estratégico y las herramientas empleadas; detallaremos los resultados de la ejecución funcional y de seguridad; analizaremos los hallazgos de código con ESLint y SonarQube; y finalmente expondremos las reflexiones normativas y el dictamen con su plan de remediación.'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1:15 - 2:00 | ORADOR: Integrante 1
GUION: 'Atlas es una plataforma web para pymes chilenas que gestiona clientes, contratos, documentos y auditoría. Tiene una arquitectura de tres capas: Frontend en React con Material UI, Backend API REST en Express y base de datos PostgreSQL. Nuestro marco de referencia integra cuatro pilares: ISO 25010 para la calidad del producto, ISO 27001 para seguridad, OWASP Top 10 para vulnerabilidades web y la legislación chilena (Ley 19.628 y nueva Ley 21.719 de Protección de Datos Personales). El entorno de pruebas fue desplegado en Docker de forma aislada con frontend en el puerto 3350, API en el 4450 y PostgreSQL en el 15432.'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2:00 - 2:45 | ORADOR: Integrante 2
GUION: 'Nuestra estrategia de pruebas tuvo un enfoque mixto: pruebas manuales reproducibles con curl y Swagger sobre la API REST, combinadas con análisis estático automatizado con SonarQube y ESLint, más auditoría manual de código. Aplicamos priorización por riesgo: primero verificamos la superficie de ataque y controles de seguridad (control de acceso, uploads, inyección), luego las funciones core del negocio y finalmente rendimiento y usabilidad. Definimos un criterio de salida estricto: cero defectos de severidad crítica abiertos. Como veremos, este criterio no se cumplió.'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2:45 - 3:30 | ORADOR: Integrante 2
GUION: 'Clasificamos las pruebas en cinco tipos: funcionales (para validar login y CRUD de RF-1 a RF-6); de seguridad (para verificar control de acceso IDOR, upload de archivos y SQLi según NFR-SEG); de integración (asegurando que las tres capas se comuniquen correctamente); de rendimiento (donde medimos tiempos de respuesta detectando la latencia artificial de 4 segundos programada en el backend); y de usabilidad (con especial foco en accesibilidad para adultos mayores según WCAG 2.1 AA).'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3:30 - 4:15 | ORADOR: Integrante 2
GUION: 'Utilizamos Docker Compose para garantizar reproducibilidad exacta; curl para manipular cabeceras HTTP y validar códigos de estado reales; ESLint 9 para detectar malas prácticas en JavaScript; SonarQube 10.6 Community desplegado en contenedor para obtener métricas objetivas de seguridad y deuda técnica; y revisión manual para auditar la lógica de autenticación y manejo de archivos. Trabajamos con roles diferenciados: líder de QA, tester funcional y tester de seguridad.'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4:15 - 5:15 | ORADOR: Integrante 2
GUION: 'En la ejecución general obtuvimos un 83% de éxito funcional: 10 de 12 casos aprobaron. Sin embargo, los 2 casos que fallaron son de severidad CRÍTICA en seguridad: el caso CP-010 (subida de archivos ejecutables) y el caso CP-011 (acceso a contratos sin autenticación). Además, en pruebas complementarias de seguridad, 7 de 10 resultaron inseguras, y SonarQube arrojó una vulnerabilidad BLOCKER con Security Rating E en el backend.'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5:15 - 6:30 | ORADOR: Integrante 3
GUION: 'Revisemos los casos representativos: CP-001 (login) y CP-012 (intento de inyección SQL) funcionaron bien, la API utiliza consultas parametrizadas con node-postgres lo que previene SQLi tradicional. Pero en CP-011 encontramos una falla crítica: al consultar GET /contratos/1 o /usuarios/1 sin cabecera Authorization, el backend responde HTTP 200 entregando la información sin pedir token. Y en CP-010, el endpoint de contratos acepta archivos .exe binarios mediante multer sin validar extensión ni tipo MIME, almacenándolos en base de datos y sirviéndolos como application/pdf. Esto permite distribuir malware a través de la plataforma.'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9:30 - 10:00 | ORADOR: Integrante 1
GUION: 'Nuestro dictamen final es rotundo: NO CERTIFICADO. Para subsanarlo, planteamos un Sprint de Remediación de 2 semanas con 5 acciones prioritarias: 1. Middleware global JWT en todos los routers de Express para eliminar el IDOR. 2. Hashing obligatorio con bcrypt para contraseñas. 3. Validación estricta de tipo MIME y extensión en multer (permitiendo solo PDF). 4. Extracción de secretos y credenciales de BD hacia variables de entorno (.env). 5. Restricción de CORS y Quality Gate de SonarQube en el pipeline de CI/CD. Muchas gracias. Quedamos a su disposición para la ronda de preguntas y demostración técnica en vivo.'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6:30 - 7:30 | ORADOR: Integrante 3
GUION: 'El análisis estático con SonarQube confirmó los hallazgos dinámicos con métricas científicas: En el backend detectó 1 vulnerabilidad BLOCKER bajo la regla secrets:S6698 en db.js:6, debido a credenciales de PostgreSQL escritas en código duro. Detectó 4 Security Hotspots que corresponden exactamente a la falta de límite y validación en multer (contracts.js) y al CORS abierto (*) en app.js. En el frontend encontramos alta deuda técnica con 181 code smells, un bug de estilos en index.css y componentes con complejidad cognitiva excesiva.'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7:30 - 8:30 | ORADOR: Integrante 3
GUION: 'Clasificamos los defectos bajo escala institucional y métricas internacionales CVSS v3.1: Tenemos 4 defectos CRÍTICOS: BUG-001 (IDOR sin token, CVSS 8.6), BUG-002 (contraseñas en texto claro sin hash, CVSS 8.1), BUG-003 (subida de ejecutables .exe, CVSS 9.8) y BUG-011 (credenciales de BD en código duro, CVSS 9.8). La regla de oro de la certificación de software es categórica: un sistema con defectos de severidad crítica abiertos NUNCA debe ser certificado ni liberado a producción.'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8:30 - 9:00 | ORADOR: Integrante 1
GUION: 'Aquí observamos las evidencias visuales extraídas directamente del dashboard de SonarQube 10.6 en nuestro laboratorio local: el Security Rating E del backend, la regla Blocker de secretos y el inventario de code smells del frontend.'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9:00 - 9:30 | ORADOR: Integrante 1
GUION: 'Reflexión ética y legal: Tratándose de un sistema que procesa datos personales y bancarios de clientes pymes, el almacenamiento de contraseñas sin hash y la exposición de contratos sin autenticación constituyen una violación flagrante a la Ley 19.628 y a la nueva Ley 21.719 en Chile, arriesgando multas severas y pérdida de reputación. Éticamente, nuestra responsabilidad como ingenieros de software es reportar estos hallazgos con total transparencia y objetividad, sin intentar maquillar el código ni emitir una certificación complaciente.'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9:30 - 10:00 | ORADOR: Integrante 1
GUION: 'Nuestro dictamen final es rotundo: NO CERTIFICADO. Para subsanarlo, planteamos un Sprint de Remediación de 2 semanas con 5 acciones prioritarias: 1. Middleware global JWT en todos los routers de Express para eliminar el IDOR. 2. Hashing obligatorio con bcrypt para contraseñas. 3. Validación estricta de tipo MIME y extensión en multer (permitiendo solo PDF). 4. Extracción de secretos y credenciales de BD hacia variables de entorno (.env). 5. Restricción de CORS y Quality Gate de SonarQube en el pipeline de CI/CD. Muchas gracias. Quedamos a su disposición para la ronda de preguntas y demostración técnica en vivo.'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TIEMPO: 10:00+ | SESIÓN DE PREGUNTAS Y DEMOSTRACIÓN
GUION DE APOYO PARA PREGUNTAS:
- Si el profesor pide demostrar IDOR: Abrir Swagger en http://localhost:4450/docs o ejecutar curl -i http://localhost:4450/contratos/1
- Si pregunta por qué falló el upload: Explicar que multer({ storage }) no tiene la propiedad fileFilter configurada.
- Si pregunta por la latencia: Explicar que el backend tiene la función delay(4000) forzada en los controladores.
- Si pregunta por SonarQube: Explicar que el Security Rating E se debe a la vulnerabilidad BLOCKER de credenciales en db.js.'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Informe de Seguridad y Calidad · Certificación del Sistema Atlas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video" Target="../media/media-9-1.mp4"/><Relationship Id="rId2" Type="http://schemas.microsoft.com/office/2007/relationships/media" Target="../media/media-9-1.mp4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ecor"/>
          <p:cNvSpPr/>
          <p:nvPr/>
        </p:nvSpPr>
        <p:spPr>
          <a:xfrm>
            <a:off x="7498080" y="-1097280"/>
            <a:ext cx="6400800" cy="640080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4" name="txt1"/>
          <p:cNvSpPr txBox="1"/>
          <p:nvPr/>
        </p:nvSpPr>
        <p:spPr>
          <a:xfrm>
            <a:off x="731520" y="82296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Informe de Seguridad y Calidad</a:t>
            </a:r>
            <a:endParaRPr lang="en-US" sz="4600" dirty="0"/>
          </a:p>
        </p:txBody>
      </p:sp>
      <p:sp>
        <p:nvSpPr>
          <p:cNvPr id="5" name="txt2"/>
          <p:cNvSpPr txBox="1"/>
          <p:nvPr/>
        </p:nvSpPr>
        <p:spPr>
          <a:xfrm>
            <a:off x="731520" y="251460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Certificación del Sistema Atlas</a:t>
            </a:r>
            <a:endParaRPr lang="en-US" sz="2600" dirty="0"/>
          </a:p>
        </p:txBody>
      </p:sp>
      <p:sp>
        <p:nvSpPr>
          <p:cNvPr id="6" name="txt3"/>
          <p:cNvSpPr txBox="1"/>
          <p:nvPr/>
        </p:nvSpPr>
        <p:spPr>
          <a:xfrm>
            <a:off x="731520" y="31089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Evaluación Parcial N.º 3 · ISY1102 — Seguridad y Calidad en el Desarrollo de Software</a:t>
            </a:r>
            <a:endParaRPr lang="en-US" sz="1400" dirty="0"/>
          </a:p>
        </p:txBody>
      </p:sp>
      <p:sp>
        <p:nvSpPr>
          <p:cNvPr id="7" name="txt4"/>
          <p:cNvSpPr txBox="1"/>
          <p:nvPr/>
        </p:nvSpPr>
        <p:spPr>
          <a:xfrm>
            <a:off x="731520" y="4114800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4"/>
                </a:solidFill>
              </a:rPr>
              <a:t>INTEGRANTES</a:t>
            </a:r>
            <a:endParaRPr lang="en-US" sz="1050" dirty="0"/>
          </a:p>
        </p:txBody>
      </p:sp>
      <p:sp>
        <p:nvSpPr>
          <p:cNvPr id="8" name="txt5"/>
          <p:cNvSpPr txBox="1"/>
          <p:nvPr/>
        </p:nvSpPr>
        <p:spPr>
          <a:xfrm>
            <a:off x="731520" y="433425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Luis Tasso · Miguel Arredondo · Nicolas Iturrieta</a:t>
            </a:r>
            <a:endParaRPr lang="en-US" sz="1400" dirty="0"/>
          </a:p>
        </p:txBody>
      </p:sp>
      <p:sp>
        <p:nvSpPr>
          <p:cNvPr id="9" name="txt6"/>
          <p:cNvSpPr txBox="1"/>
          <p:nvPr/>
        </p:nvSpPr>
        <p:spPr>
          <a:xfrm>
            <a:off x="731520" y="48006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4"/>
                </a:solidFill>
              </a:rPr>
              <a:t>CARRERA</a:t>
            </a:r>
            <a:endParaRPr lang="en-US" sz="1050" dirty="0"/>
          </a:p>
        </p:txBody>
      </p:sp>
      <p:sp>
        <p:nvSpPr>
          <p:cNvPr id="10" name="txt7"/>
          <p:cNvSpPr txBox="1"/>
          <p:nvPr/>
        </p:nvSpPr>
        <p:spPr>
          <a:xfrm>
            <a:off x="731520" y="50200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Ingeniería en Desarrollo de Software</a:t>
            </a:r>
            <a:endParaRPr lang="en-US" sz="1400" dirty="0"/>
          </a:p>
        </p:txBody>
      </p:sp>
      <p:sp>
        <p:nvSpPr>
          <p:cNvPr id="11" name="txt8"/>
          <p:cNvSpPr txBox="1"/>
          <p:nvPr/>
        </p:nvSpPr>
        <p:spPr>
          <a:xfrm>
            <a:off x="4480560" y="48006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4"/>
                </a:solidFill>
              </a:rPr>
              <a:t>SECCIÓN</a:t>
            </a:r>
            <a:endParaRPr lang="en-US" sz="1050" dirty="0"/>
          </a:p>
        </p:txBody>
      </p:sp>
      <p:sp>
        <p:nvSpPr>
          <p:cNvPr id="12" name="txt9"/>
          <p:cNvSpPr txBox="1"/>
          <p:nvPr/>
        </p:nvSpPr>
        <p:spPr>
          <a:xfrm>
            <a:off x="4480560" y="50200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002V</a:t>
            </a:r>
            <a:endParaRPr lang="en-US" sz="1400" dirty="0"/>
          </a:p>
        </p:txBody>
      </p:sp>
      <p:sp>
        <p:nvSpPr>
          <p:cNvPr id="13" name="txt10"/>
          <p:cNvSpPr txBox="1"/>
          <p:nvPr/>
        </p:nvSpPr>
        <p:spPr>
          <a:xfrm>
            <a:off x="731520" y="548640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4"/>
                </a:solidFill>
              </a:rPr>
              <a:t>DOCENTE</a:t>
            </a:r>
            <a:endParaRPr lang="en-US" sz="1050" dirty="0"/>
          </a:p>
        </p:txBody>
      </p:sp>
      <p:sp>
        <p:nvSpPr>
          <p:cNvPr id="14" name="txt11"/>
          <p:cNvSpPr txBox="1"/>
          <p:nvPr/>
        </p:nvSpPr>
        <p:spPr>
          <a:xfrm>
            <a:off x="731520" y="57058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Christian Rodrigo Alvarez Lobos</a:t>
            </a:r>
            <a:endParaRPr lang="en-US" sz="1400" dirty="0"/>
          </a:p>
        </p:txBody>
      </p:sp>
      <p:sp>
        <p:nvSpPr>
          <p:cNvPr id="15" name="txt12"/>
          <p:cNvSpPr txBox="1"/>
          <p:nvPr/>
        </p:nvSpPr>
        <p:spPr>
          <a:xfrm>
            <a:off x="4480560" y="5486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4"/>
                </a:solidFill>
              </a:rPr>
              <a:t>FECHA</a:t>
            </a:r>
            <a:endParaRPr lang="en-US" sz="1050" dirty="0"/>
          </a:p>
        </p:txBody>
      </p:sp>
      <p:sp>
        <p:nvSpPr>
          <p:cNvPr id="16" name="txt13"/>
          <p:cNvSpPr txBox="1"/>
          <p:nvPr/>
        </p:nvSpPr>
        <p:spPr>
          <a:xfrm>
            <a:off x="4480560" y="57058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29 de octubre de 2026 · versión revisada</a:t>
            </a:r>
            <a:endParaRPr lang="en-US" sz="1400" dirty="0"/>
          </a:p>
        </p:txBody>
      </p:sp>
      <p:sp>
        <p:nvSpPr>
          <p:cNvPr id="17" name="card14"/>
          <p:cNvSpPr/>
          <p:nvPr/>
        </p:nvSpPr>
        <p:spPr>
          <a:xfrm>
            <a:off x="7955280" y="1554480"/>
            <a:ext cx="3657600" cy="3749040"/>
          </a:xfrm>
          <a:prstGeom prst="roundRect">
            <a:avLst>
              <a:gd name="adj" fmla="val 3000"/>
            </a:avLst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18" name="circle15"/>
          <p:cNvSpPr/>
          <p:nvPr/>
        </p:nvSpPr>
        <p:spPr>
          <a:xfrm>
            <a:off x="9326880" y="1965960"/>
            <a:ext cx="914400" cy="91440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p/>
        </p:txBody>
      </p:sp>
      <p:pic>
        <p:nvPicPr>
          <p:cNvPr id="19" name="icon1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0" y="2194560"/>
            <a:ext cx="457200" cy="457200"/>
          </a:xfrm>
          <a:prstGeom prst="rect">
            <a:avLst/>
          </a:prstGeom>
        </p:spPr>
      </p:pic>
      <p:sp>
        <p:nvSpPr>
          <p:cNvPr id="20" name="txt17"/>
          <p:cNvSpPr txBox="1"/>
          <p:nvPr/>
        </p:nvSpPr>
        <p:spPr>
          <a:xfrm>
            <a:off x="795528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chemeClr val="bg1"/>
                </a:solidFill>
              </a:rPr>
              <a:t>DICTAMEN</a:t>
            </a:r>
            <a:endParaRPr lang="en-US" sz="1400" dirty="0"/>
          </a:p>
        </p:txBody>
      </p:sp>
      <p:sp>
        <p:nvSpPr>
          <p:cNvPr id="21" name="txt18"/>
          <p:cNvSpPr txBox="1"/>
          <p:nvPr/>
        </p:nvSpPr>
        <p:spPr>
          <a:xfrm>
            <a:off x="7955280" y="35204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CERTIFICADO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xt19"/>
          <p:cNvSpPr txBox="1"/>
          <p:nvPr/>
        </p:nvSpPr>
        <p:spPr>
          <a:xfrm>
            <a:off x="548640" y="301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5"/>
                </a:solidFill>
              </a:rPr>
              <a:t>AGENDA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Contenido de la presentación</a:t>
            </a:r>
            <a:endParaRPr lang="en-US" sz="3000" dirty="0"/>
          </a:p>
        </p:txBody>
      </p:sp>
      <p:sp>
        <p:nvSpPr>
          <p:cNvPr id="5" name="card20"/>
          <p:cNvSpPr/>
          <p:nvPr/>
        </p:nvSpPr>
        <p:spPr>
          <a:xfrm>
            <a:off x="548640" y="1463040"/>
            <a:ext cx="5422392" cy="786384"/>
          </a:xfrm>
          <a:prstGeom prst="roundRect">
            <a:avLst>
              <a:gd name="adj" fmla="val 1395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num21"/>
          <p:cNvSpPr/>
          <p:nvPr/>
        </p:nvSpPr>
        <p:spPr>
          <a:xfrm>
            <a:off x="731520" y="1600200"/>
            <a:ext cx="512064" cy="51206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7" name="txt22"/>
          <p:cNvSpPr txBox="1"/>
          <p:nvPr/>
        </p:nvSpPr>
        <p:spPr>
          <a:xfrm>
            <a:off x="731520" y="1600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xt23"/>
          <p:cNvSpPr txBox="1"/>
          <p:nvPr/>
        </p:nvSpPr>
        <p:spPr>
          <a:xfrm>
            <a:off x="1417320" y="1554480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Contexto del sistema (Atlas) y alcance de la verificación</a:t>
            </a:r>
            <a:endParaRPr lang="en-US" sz="1500" dirty="0"/>
          </a:p>
        </p:txBody>
      </p:sp>
      <p:sp>
        <p:nvSpPr>
          <p:cNvPr id="9" name="card24"/>
          <p:cNvSpPr/>
          <p:nvPr/>
        </p:nvSpPr>
        <p:spPr>
          <a:xfrm>
            <a:off x="6217920" y="1463040"/>
            <a:ext cx="5422392" cy="786384"/>
          </a:xfrm>
          <a:prstGeom prst="roundRect">
            <a:avLst>
              <a:gd name="adj" fmla="val 1395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</p:sp>
      <p:sp>
        <p:nvSpPr>
          <p:cNvPr id="10" name="num25"/>
          <p:cNvSpPr/>
          <p:nvPr/>
        </p:nvSpPr>
        <p:spPr>
          <a:xfrm>
            <a:off x="6400800" y="1600200"/>
            <a:ext cx="512064" cy="51206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1" name="txt26"/>
          <p:cNvSpPr txBox="1"/>
          <p:nvPr/>
        </p:nvSpPr>
        <p:spPr>
          <a:xfrm>
            <a:off x="6400800" y="1600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xt27"/>
          <p:cNvSpPr txBox="1"/>
          <p:nvPr/>
        </p:nvSpPr>
        <p:spPr>
          <a:xfrm>
            <a:off x="7086600" y="1554480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Enfoque estratégico de las pruebas</a:t>
            </a:r>
            <a:endParaRPr lang="en-US" sz="1500" dirty="0"/>
          </a:p>
        </p:txBody>
      </p:sp>
      <p:sp>
        <p:nvSpPr>
          <p:cNvPr id="13" name="card28"/>
          <p:cNvSpPr/>
          <p:nvPr/>
        </p:nvSpPr>
        <p:spPr>
          <a:xfrm>
            <a:off x="548640" y="2414016"/>
            <a:ext cx="5422392" cy="786384"/>
          </a:xfrm>
          <a:prstGeom prst="roundRect">
            <a:avLst>
              <a:gd name="adj" fmla="val 1395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</p:sp>
      <p:sp>
        <p:nvSpPr>
          <p:cNvPr id="14" name="num29"/>
          <p:cNvSpPr/>
          <p:nvPr/>
        </p:nvSpPr>
        <p:spPr>
          <a:xfrm>
            <a:off x="731520" y="2551176"/>
            <a:ext cx="512064" cy="51206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5" name="txt30"/>
          <p:cNvSpPr txBox="1"/>
          <p:nvPr/>
        </p:nvSpPr>
        <p:spPr>
          <a:xfrm>
            <a:off x="731520" y="25511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xt31"/>
          <p:cNvSpPr txBox="1"/>
          <p:nvPr/>
        </p:nvSpPr>
        <p:spPr>
          <a:xfrm>
            <a:off x="1417320" y="2505456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Tipos de prueba y su justificación</a:t>
            </a:r>
            <a:endParaRPr lang="en-US" sz="1500" dirty="0"/>
          </a:p>
        </p:txBody>
      </p:sp>
      <p:sp>
        <p:nvSpPr>
          <p:cNvPr id="17" name="card32"/>
          <p:cNvSpPr/>
          <p:nvPr/>
        </p:nvSpPr>
        <p:spPr>
          <a:xfrm>
            <a:off x="6217920" y="2414016"/>
            <a:ext cx="5422392" cy="786384"/>
          </a:xfrm>
          <a:prstGeom prst="roundRect">
            <a:avLst>
              <a:gd name="adj" fmla="val 1395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</p:sp>
      <p:sp>
        <p:nvSpPr>
          <p:cNvPr id="18" name="num33"/>
          <p:cNvSpPr/>
          <p:nvPr/>
        </p:nvSpPr>
        <p:spPr>
          <a:xfrm>
            <a:off x="6400800" y="2551176"/>
            <a:ext cx="512064" cy="51206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9" name="txt34"/>
          <p:cNvSpPr txBox="1"/>
          <p:nvPr/>
        </p:nvSpPr>
        <p:spPr>
          <a:xfrm>
            <a:off x="6400800" y="25511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xt35"/>
          <p:cNvSpPr txBox="1"/>
          <p:nvPr/>
        </p:nvSpPr>
        <p:spPr>
          <a:xfrm>
            <a:off x="7086600" y="2505456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Herramientas seleccionadas</a:t>
            </a:r>
            <a:endParaRPr lang="en-US" sz="1500" dirty="0"/>
          </a:p>
        </p:txBody>
      </p:sp>
      <p:sp>
        <p:nvSpPr>
          <p:cNvPr id="21" name="card36"/>
          <p:cNvSpPr/>
          <p:nvPr/>
        </p:nvSpPr>
        <p:spPr>
          <a:xfrm>
            <a:off x="548640" y="3364992"/>
            <a:ext cx="5422392" cy="786384"/>
          </a:xfrm>
          <a:prstGeom prst="roundRect">
            <a:avLst>
              <a:gd name="adj" fmla="val 1395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</p:sp>
      <p:sp>
        <p:nvSpPr>
          <p:cNvPr id="22" name="num37"/>
          <p:cNvSpPr/>
          <p:nvPr/>
        </p:nvSpPr>
        <p:spPr>
          <a:xfrm>
            <a:off x="731520" y="3502152"/>
            <a:ext cx="512064" cy="51206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3" name="txt38"/>
          <p:cNvSpPr txBox="1"/>
          <p:nvPr/>
        </p:nvSpPr>
        <p:spPr>
          <a:xfrm>
            <a:off x="731520" y="35021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4" name="txt39"/>
          <p:cNvSpPr txBox="1"/>
          <p:nvPr/>
        </p:nvSpPr>
        <p:spPr>
          <a:xfrm>
            <a:off x="1417320" y="3456432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Ejecución de pruebas: resumen cuantitativo</a:t>
            </a:r>
            <a:endParaRPr lang="en-US" sz="1500" dirty="0"/>
          </a:p>
        </p:txBody>
      </p:sp>
      <p:sp>
        <p:nvSpPr>
          <p:cNvPr id="25" name="card40"/>
          <p:cNvSpPr/>
          <p:nvPr/>
        </p:nvSpPr>
        <p:spPr>
          <a:xfrm>
            <a:off x="6217920" y="3364992"/>
            <a:ext cx="5422392" cy="786384"/>
          </a:xfrm>
          <a:prstGeom prst="roundRect">
            <a:avLst>
              <a:gd name="adj" fmla="val 1395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</p:sp>
      <p:sp>
        <p:nvSpPr>
          <p:cNvPr id="26" name="num41"/>
          <p:cNvSpPr/>
          <p:nvPr/>
        </p:nvSpPr>
        <p:spPr>
          <a:xfrm>
            <a:off x="6400800" y="3502152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xt42"/>
          <p:cNvSpPr txBox="1"/>
          <p:nvPr/>
        </p:nvSpPr>
        <p:spPr>
          <a:xfrm>
            <a:off x="6400800" y="35021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8" name="txt43"/>
          <p:cNvSpPr txBox="1"/>
          <p:nvPr/>
        </p:nvSpPr>
        <p:spPr>
          <a:xfrm>
            <a:off x="7086600" y="3456432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Casos representativos y demostraciones en video (IDOR y Upload)</a:t>
            </a:r>
            <a:endParaRPr lang="en-US" sz="1500" dirty="0"/>
          </a:p>
        </p:txBody>
      </p:sp>
      <p:sp>
        <p:nvSpPr>
          <p:cNvPr id="29" name="card44"/>
          <p:cNvSpPr/>
          <p:nvPr/>
        </p:nvSpPr>
        <p:spPr>
          <a:xfrm>
            <a:off x="548640" y="4315968"/>
            <a:ext cx="5422392" cy="786384"/>
          </a:xfrm>
          <a:prstGeom prst="roundRect">
            <a:avLst>
              <a:gd name="adj" fmla="val 1395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</p:sp>
      <p:sp>
        <p:nvSpPr>
          <p:cNvPr id="30" name="num45"/>
          <p:cNvSpPr/>
          <p:nvPr/>
        </p:nvSpPr>
        <p:spPr>
          <a:xfrm>
            <a:off x="731520" y="4453128"/>
            <a:ext cx="512064" cy="51206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1" name="txt46"/>
          <p:cNvSpPr txBox="1"/>
          <p:nvPr/>
        </p:nvSpPr>
        <p:spPr>
          <a:xfrm>
            <a:off x="731520" y="4453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32" name="txt47"/>
          <p:cNvSpPr txBox="1"/>
          <p:nvPr/>
        </p:nvSpPr>
        <p:spPr>
          <a:xfrm>
            <a:off x="1417320" y="4407408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Análisis estático: ESLint y SonarQube</a:t>
            </a:r>
            <a:endParaRPr lang="en-US" sz="1500" dirty="0"/>
          </a:p>
        </p:txBody>
      </p:sp>
      <p:sp>
        <p:nvSpPr>
          <p:cNvPr id="33" name="card48"/>
          <p:cNvSpPr/>
          <p:nvPr/>
        </p:nvSpPr>
        <p:spPr>
          <a:xfrm>
            <a:off x="6217920" y="4315968"/>
            <a:ext cx="5422392" cy="786384"/>
          </a:xfrm>
          <a:prstGeom prst="roundRect">
            <a:avLst>
              <a:gd name="adj" fmla="val 1395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</p:sp>
      <p:sp>
        <p:nvSpPr>
          <p:cNvPr id="34" name="num49"/>
          <p:cNvSpPr/>
          <p:nvPr/>
        </p:nvSpPr>
        <p:spPr>
          <a:xfrm>
            <a:off x="6400800" y="4453128"/>
            <a:ext cx="512064" cy="51206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5" name="txt50"/>
          <p:cNvSpPr txBox="1"/>
          <p:nvPr/>
        </p:nvSpPr>
        <p:spPr>
          <a:xfrm>
            <a:off x="6400800" y="4453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36" name="txt51"/>
          <p:cNvSpPr txBox="1"/>
          <p:nvPr/>
        </p:nvSpPr>
        <p:spPr>
          <a:xfrm>
            <a:off x="7086600" y="4407408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Clasificación de defectos identificados y métricas CVSS v3.1</a:t>
            </a:r>
            <a:endParaRPr lang="en-US" sz="1500" dirty="0"/>
          </a:p>
        </p:txBody>
      </p:sp>
      <p:sp>
        <p:nvSpPr>
          <p:cNvPr id="37" name="card52"/>
          <p:cNvSpPr/>
          <p:nvPr/>
        </p:nvSpPr>
        <p:spPr>
          <a:xfrm>
            <a:off x="548640" y="5266944"/>
            <a:ext cx="5422392" cy="786384"/>
          </a:xfrm>
          <a:prstGeom prst="roundRect">
            <a:avLst>
              <a:gd name="adj" fmla="val 1395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</p:sp>
      <p:sp>
        <p:nvSpPr>
          <p:cNvPr id="38" name="num53"/>
          <p:cNvSpPr/>
          <p:nvPr/>
        </p:nvSpPr>
        <p:spPr>
          <a:xfrm>
            <a:off x="731520" y="5404104"/>
            <a:ext cx="512064" cy="51206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39" name="txt54"/>
          <p:cNvSpPr txBox="1"/>
          <p:nvPr/>
        </p:nvSpPr>
        <p:spPr>
          <a:xfrm>
            <a:off x="731520" y="54041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9</a:t>
            </a:r>
            <a:endParaRPr lang="en-US" sz="1600" dirty="0"/>
          </a:p>
        </p:txBody>
      </p:sp>
      <p:sp>
        <p:nvSpPr>
          <p:cNvPr id="40" name="txt55"/>
          <p:cNvSpPr txBox="1"/>
          <p:nvPr/>
        </p:nvSpPr>
        <p:spPr>
          <a:xfrm>
            <a:off x="1417320" y="5358384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Reflexiones sobre calidad, seguridad, normativa y legalidad</a:t>
            </a:r>
            <a:endParaRPr lang="en-US" sz="1500" dirty="0"/>
          </a:p>
        </p:txBody>
      </p:sp>
      <p:sp>
        <p:nvSpPr>
          <p:cNvPr id="41" name="card56"/>
          <p:cNvSpPr/>
          <p:nvPr/>
        </p:nvSpPr>
        <p:spPr>
          <a:xfrm>
            <a:off x="6217920" y="5266944"/>
            <a:ext cx="5422392" cy="786384"/>
          </a:xfrm>
          <a:prstGeom prst="roundRect">
            <a:avLst>
              <a:gd name="adj" fmla="val 1395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</p:sp>
      <p:sp>
        <p:nvSpPr>
          <p:cNvPr id="42" name="num57"/>
          <p:cNvSpPr/>
          <p:nvPr/>
        </p:nvSpPr>
        <p:spPr>
          <a:xfrm>
            <a:off x="6400800" y="5404104"/>
            <a:ext cx="512064" cy="51206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43" name="txt58"/>
          <p:cNvSpPr txBox="1"/>
          <p:nvPr/>
        </p:nvSpPr>
        <p:spPr>
          <a:xfrm>
            <a:off x="6400800" y="54041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10</a:t>
            </a:r>
            <a:endParaRPr lang="en-US" sz="1600" dirty="0"/>
          </a:p>
        </p:txBody>
      </p:sp>
      <p:sp>
        <p:nvSpPr>
          <p:cNvPr id="44" name="txt59"/>
          <p:cNvSpPr txBox="1"/>
          <p:nvPr/>
        </p:nvSpPr>
        <p:spPr>
          <a:xfrm>
            <a:off x="7086600" y="5358384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Dictamen técnico y plan de remediación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xt60"/>
          <p:cNvSpPr txBox="1"/>
          <p:nvPr/>
        </p:nvSpPr>
        <p:spPr>
          <a:xfrm>
            <a:off x="548640" y="301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5"/>
                </a:solidFill>
              </a:rPr>
              <a:t>CONTEXTO Y ESTRATEGIA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Contexto y alcance</a:t>
            </a:r>
            <a:endParaRPr lang="en-US" sz="3000" dirty="0"/>
          </a:p>
        </p:txBody>
      </p:sp>
      <p:sp>
        <p:nvSpPr>
          <p:cNvPr id="5" name="card61"/>
          <p:cNvSpPr/>
          <p:nvPr/>
        </p:nvSpPr>
        <p:spPr>
          <a:xfrm>
            <a:off x="548640" y="1417320"/>
            <a:ext cx="11091672" cy="868680"/>
          </a:xfrm>
          <a:prstGeom prst="roundRect">
            <a:avLst>
              <a:gd name="adj" fmla="val 12632"/>
            </a:avLst>
          </a:prstGeom>
          <a:solidFill>
            <a:schemeClr val="tx1"/>
          </a:solidFill>
          <a:ln/>
        </p:spPr>
      </p:sp>
      <p:sp>
        <p:nvSpPr>
          <p:cNvPr id="6" name="circle62"/>
          <p:cNvSpPr/>
          <p:nvPr/>
        </p:nvSpPr>
        <p:spPr>
          <a:xfrm>
            <a:off x="777240" y="1572768"/>
            <a:ext cx="566928" cy="56692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7" name="icon6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1714500"/>
            <a:ext cx="283464" cy="283464"/>
          </a:xfrm>
          <a:prstGeom prst="rect">
            <a:avLst/>
          </a:prstGeom>
        </p:spPr>
      </p:pic>
      <p:sp>
        <p:nvSpPr>
          <p:cNvPr id="8" name="txt64"/>
          <p:cNvSpPr txBox="1"/>
          <p:nvPr/>
        </p:nvSpPr>
        <p:spPr>
          <a:xfrm>
            <a:off x="1554480" y="141732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4"/>
                </a:solidFill>
              </a:rPr>
              <a:t>Atlas: </a:t>
            </a:r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plataforma web de gestión de clientes y contratos para pymes (Chile).</a:t>
            </a:r>
            <a:endParaRPr lang="en-US" sz="1900" dirty="0"/>
          </a:p>
        </p:txBody>
      </p:sp>
      <p:sp>
        <p:nvSpPr>
          <p:cNvPr id="9" name="txt65"/>
          <p:cNvSpPr txBox="1"/>
          <p:nvPr/>
        </p:nvSpPr>
        <p:spPr>
          <a:xfrm>
            <a:off x="548640" y="248716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ARQUITECTURA 3 CAPAS · ENTORNO: DESPLIEGUE DOCKER EN LABORATORIO</a:t>
            </a:r>
            <a:endParaRPr lang="en-US" sz="1100" dirty="0"/>
          </a:p>
        </p:txBody>
      </p:sp>
      <p:sp>
        <p:nvSpPr>
          <p:cNvPr id="10" name="card66"/>
          <p:cNvSpPr/>
          <p:nvPr/>
        </p:nvSpPr>
        <p:spPr>
          <a:xfrm>
            <a:off x="548640" y="2788920"/>
            <a:ext cx="338328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</p:sp>
      <p:sp>
        <p:nvSpPr>
          <p:cNvPr id="11" name="circle67"/>
          <p:cNvSpPr/>
          <p:nvPr/>
        </p:nvSpPr>
        <p:spPr>
          <a:xfrm>
            <a:off x="777240" y="301752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2" name="icon6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200400"/>
            <a:ext cx="365760" cy="365760"/>
          </a:xfrm>
          <a:prstGeom prst="rect">
            <a:avLst/>
          </a:prstGeom>
        </p:spPr>
      </p:pic>
      <p:sp>
        <p:nvSpPr>
          <p:cNvPr id="13" name="txt69"/>
          <p:cNvSpPr txBox="1"/>
          <p:nvPr/>
        </p:nvSpPr>
        <p:spPr>
          <a:xfrm>
            <a:off x="1691640" y="3017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Frontend</a:t>
            </a:r>
            <a:endParaRPr lang="en-US" sz="1700" dirty="0"/>
          </a:p>
        </p:txBody>
      </p:sp>
      <p:sp>
        <p:nvSpPr>
          <p:cNvPr id="14" name="txt70"/>
          <p:cNvSpPr txBox="1"/>
          <p:nvPr/>
        </p:nvSpPr>
        <p:spPr>
          <a:xfrm>
            <a:off x="1691640" y="33649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React + MUI</a:t>
            </a:r>
            <a:endParaRPr lang="en-US" sz="1400" dirty="0"/>
          </a:p>
        </p:txBody>
      </p:sp>
      <p:sp>
        <p:nvSpPr>
          <p:cNvPr id="15" name="card71"/>
          <p:cNvSpPr/>
          <p:nvPr/>
        </p:nvSpPr>
        <p:spPr>
          <a:xfrm>
            <a:off x="1691640" y="3657600"/>
            <a:ext cx="914400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/>
        </p:spPr>
      </p:sp>
      <p:sp>
        <p:nvSpPr>
          <p:cNvPr id="16" name="txt72"/>
          <p:cNvSpPr txBox="1"/>
          <p:nvPr/>
        </p:nvSpPr>
        <p:spPr>
          <a:xfrm>
            <a:off x="1691640" y="3657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:3350</a:t>
            </a:r>
            <a:endParaRPr lang="en-US" sz="1100" dirty="0"/>
          </a:p>
        </p:txBody>
      </p:sp>
      <p:pic>
        <p:nvPicPr>
          <p:cNvPr id="17" name="arrow7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3264408"/>
            <a:ext cx="292608" cy="292608"/>
          </a:xfrm>
          <a:prstGeom prst="rect">
            <a:avLst/>
          </a:prstGeom>
        </p:spPr>
      </p:pic>
      <p:sp>
        <p:nvSpPr>
          <p:cNvPr id="18" name="card74"/>
          <p:cNvSpPr/>
          <p:nvPr/>
        </p:nvSpPr>
        <p:spPr>
          <a:xfrm>
            <a:off x="4402836" y="2788920"/>
            <a:ext cx="338328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</p:sp>
      <p:sp>
        <p:nvSpPr>
          <p:cNvPr id="19" name="circle75"/>
          <p:cNvSpPr/>
          <p:nvPr/>
        </p:nvSpPr>
        <p:spPr>
          <a:xfrm>
            <a:off x="4631436" y="301752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0" name="icon7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4316" y="3200400"/>
            <a:ext cx="365760" cy="365760"/>
          </a:xfrm>
          <a:prstGeom prst="rect">
            <a:avLst/>
          </a:prstGeom>
        </p:spPr>
      </p:pic>
      <p:sp>
        <p:nvSpPr>
          <p:cNvPr id="21" name="txt77"/>
          <p:cNvSpPr txBox="1"/>
          <p:nvPr/>
        </p:nvSpPr>
        <p:spPr>
          <a:xfrm>
            <a:off x="5545836" y="3017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API REST</a:t>
            </a:r>
            <a:endParaRPr lang="en-US" sz="1700" dirty="0"/>
          </a:p>
        </p:txBody>
      </p:sp>
      <p:sp>
        <p:nvSpPr>
          <p:cNvPr id="22" name="txt78"/>
          <p:cNvSpPr txBox="1"/>
          <p:nvPr/>
        </p:nvSpPr>
        <p:spPr>
          <a:xfrm>
            <a:off x="5545836" y="33649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Express / Node</a:t>
            </a:r>
            <a:endParaRPr lang="en-US" sz="1400" dirty="0"/>
          </a:p>
        </p:txBody>
      </p:sp>
      <p:sp>
        <p:nvSpPr>
          <p:cNvPr id="23" name="card79"/>
          <p:cNvSpPr/>
          <p:nvPr/>
        </p:nvSpPr>
        <p:spPr>
          <a:xfrm>
            <a:off x="5545836" y="3657600"/>
            <a:ext cx="914400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/>
        </p:spPr>
      </p:sp>
      <p:sp>
        <p:nvSpPr>
          <p:cNvPr id="24" name="txt80"/>
          <p:cNvSpPr txBox="1"/>
          <p:nvPr/>
        </p:nvSpPr>
        <p:spPr>
          <a:xfrm>
            <a:off x="5545836" y="3657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:4450</a:t>
            </a:r>
            <a:endParaRPr lang="en-US" sz="1100" dirty="0"/>
          </a:p>
        </p:txBody>
      </p:sp>
      <p:pic>
        <p:nvPicPr>
          <p:cNvPr id="25" name="arrow8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7556" y="3264408"/>
            <a:ext cx="292608" cy="292608"/>
          </a:xfrm>
          <a:prstGeom prst="rect">
            <a:avLst/>
          </a:prstGeom>
        </p:spPr>
      </p:pic>
      <p:sp>
        <p:nvSpPr>
          <p:cNvPr id="26" name="card82"/>
          <p:cNvSpPr/>
          <p:nvPr/>
        </p:nvSpPr>
        <p:spPr>
          <a:xfrm>
            <a:off x="8257032" y="2788920"/>
            <a:ext cx="338328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</p:sp>
      <p:sp>
        <p:nvSpPr>
          <p:cNvPr id="27" name="circle83"/>
          <p:cNvSpPr/>
          <p:nvPr/>
        </p:nvSpPr>
        <p:spPr>
          <a:xfrm>
            <a:off x="8485632" y="301752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8" name="icon8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8512" y="3200400"/>
            <a:ext cx="365760" cy="365760"/>
          </a:xfrm>
          <a:prstGeom prst="rect">
            <a:avLst/>
          </a:prstGeom>
        </p:spPr>
      </p:pic>
      <p:sp>
        <p:nvSpPr>
          <p:cNvPr id="29" name="txt85"/>
          <p:cNvSpPr txBox="1"/>
          <p:nvPr/>
        </p:nvSpPr>
        <p:spPr>
          <a:xfrm>
            <a:off x="9400032" y="3017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Base de datos</a:t>
            </a:r>
            <a:endParaRPr lang="en-US" sz="1700" dirty="0"/>
          </a:p>
        </p:txBody>
      </p:sp>
      <p:sp>
        <p:nvSpPr>
          <p:cNvPr id="30" name="txt86"/>
          <p:cNvSpPr txBox="1"/>
          <p:nvPr/>
        </p:nvSpPr>
        <p:spPr>
          <a:xfrm>
            <a:off x="9400032" y="33649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PostgreSQL</a:t>
            </a:r>
            <a:endParaRPr lang="en-US" sz="1400" dirty="0"/>
          </a:p>
        </p:txBody>
      </p:sp>
      <p:sp>
        <p:nvSpPr>
          <p:cNvPr id="31" name="card87"/>
          <p:cNvSpPr/>
          <p:nvPr/>
        </p:nvSpPr>
        <p:spPr>
          <a:xfrm>
            <a:off x="9400032" y="3657600"/>
            <a:ext cx="914400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/>
        </p:spPr>
      </p:sp>
      <p:sp>
        <p:nvSpPr>
          <p:cNvPr id="32" name="txt88"/>
          <p:cNvSpPr txBox="1"/>
          <p:nvPr/>
        </p:nvSpPr>
        <p:spPr>
          <a:xfrm>
            <a:off x="9400032" y="3657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:15432</a:t>
            </a:r>
            <a:endParaRPr lang="en-US" sz="1100" dirty="0"/>
          </a:p>
        </p:txBody>
      </p:sp>
      <p:sp>
        <p:nvSpPr>
          <p:cNvPr id="33" name="card89"/>
          <p:cNvSpPr/>
          <p:nvPr/>
        </p:nvSpPr>
        <p:spPr>
          <a:xfrm>
            <a:off x="548640" y="4343400"/>
            <a:ext cx="3566160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</p:sp>
      <p:sp>
        <p:nvSpPr>
          <p:cNvPr id="34" name="circle90"/>
          <p:cNvSpPr/>
          <p:nvPr/>
        </p:nvSpPr>
        <p:spPr>
          <a:xfrm>
            <a:off x="777240" y="4572000"/>
            <a:ext cx="566928" cy="566928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5" name="icon91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972" y="4713732"/>
            <a:ext cx="283464" cy="283464"/>
          </a:xfrm>
          <a:prstGeom prst="rect">
            <a:avLst/>
          </a:prstGeom>
        </p:spPr>
      </p:pic>
      <p:sp>
        <p:nvSpPr>
          <p:cNvPr id="36" name="txt92"/>
          <p:cNvSpPr txBox="1"/>
          <p:nvPr/>
        </p:nvSpPr>
        <p:spPr>
          <a:xfrm>
            <a:off x="1508760" y="45720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Módulos evaluados</a:t>
            </a:r>
            <a:endParaRPr lang="en-US" sz="1700" dirty="0"/>
          </a:p>
        </p:txBody>
      </p:sp>
      <p:sp>
        <p:nvSpPr>
          <p:cNvPr id="37" name="txt93"/>
          <p:cNvSpPr txBox="1"/>
          <p:nvPr/>
        </p:nvSpPr>
        <p:spPr>
          <a:xfrm>
            <a:off x="777240" y="527608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Autenticación, clientes, contratos/documentos, usuarios/roles, métricas y auditoría.</a:t>
            </a:r>
            <a:endParaRPr lang="en-US" sz="1400" dirty="0"/>
          </a:p>
        </p:txBody>
      </p:sp>
      <p:sp>
        <p:nvSpPr>
          <p:cNvPr id="38" name="card94"/>
          <p:cNvSpPr/>
          <p:nvPr/>
        </p:nvSpPr>
        <p:spPr>
          <a:xfrm>
            <a:off x="4311396" y="4343400"/>
            <a:ext cx="3566160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</p:sp>
      <p:sp>
        <p:nvSpPr>
          <p:cNvPr id="39" name="circle95"/>
          <p:cNvSpPr/>
          <p:nvPr/>
        </p:nvSpPr>
        <p:spPr>
          <a:xfrm>
            <a:off x="4539996" y="4572000"/>
            <a:ext cx="566928" cy="566928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40" name="icon9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1728" y="4713732"/>
            <a:ext cx="283464" cy="283464"/>
          </a:xfrm>
          <a:prstGeom prst="rect">
            <a:avLst/>
          </a:prstGeom>
        </p:spPr>
      </p:pic>
      <p:sp>
        <p:nvSpPr>
          <p:cNvPr id="41" name="txt97"/>
          <p:cNvSpPr txBox="1"/>
          <p:nvPr/>
        </p:nvSpPr>
        <p:spPr>
          <a:xfrm>
            <a:off x="5271516" y="45720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Marco de referencia</a:t>
            </a:r>
            <a:endParaRPr lang="en-US" sz="1700" dirty="0"/>
          </a:p>
        </p:txBody>
      </p:sp>
      <p:sp>
        <p:nvSpPr>
          <p:cNvPr id="42" name="txt98"/>
          <p:cNvSpPr txBox="1"/>
          <p:nvPr/>
        </p:nvSpPr>
        <p:spPr>
          <a:xfrm>
            <a:off x="4539996" y="527608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ISO/IEC 25010 · ISO/IEC 27001 · OWASP Top 10 · Ley 19.628 y 21.719.</a:t>
            </a:r>
            <a:endParaRPr lang="en-US" sz="1400" dirty="0"/>
          </a:p>
        </p:txBody>
      </p:sp>
      <p:sp>
        <p:nvSpPr>
          <p:cNvPr id="43" name="card99"/>
          <p:cNvSpPr/>
          <p:nvPr/>
        </p:nvSpPr>
        <p:spPr>
          <a:xfrm>
            <a:off x="8074152" y="4343400"/>
            <a:ext cx="3566160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</p:sp>
      <p:sp>
        <p:nvSpPr>
          <p:cNvPr id="44" name="circle100"/>
          <p:cNvSpPr/>
          <p:nvPr/>
        </p:nvSpPr>
        <p:spPr>
          <a:xfrm>
            <a:off x="8302752" y="4572000"/>
            <a:ext cx="566928" cy="566928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45" name="icon101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44484" y="4713732"/>
            <a:ext cx="283464" cy="283464"/>
          </a:xfrm>
          <a:prstGeom prst="rect">
            <a:avLst/>
          </a:prstGeom>
        </p:spPr>
      </p:pic>
      <p:sp>
        <p:nvSpPr>
          <p:cNvPr id="46" name="txt102"/>
          <p:cNvSpPr txBox="1"/>
          <p:nvPr/>
        </p:nvSpPr>
        <p:spPr>
          <a:xfrm>
            <a:off x="9034272" y="45720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Objetivo</a:t>
            </a:r>
            <a:endParaRPr lang="en-US" sz="1700" dirty="0"/>
          </a:p>
        </p:txBody>
      </p:sp>
      <p:sp>
        <p:nvSpPr>
          <p:cNvPr id="47" name="txt103"/>
          <p:cNvSpPr txBox="1"/>
          <p:nvPr/>
        </p:nvSpPr>
        <p:spPr>
          <a:xfrm>
            <a:off x="8302752" y="527608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Determinar con evidencias si el software es apto para producción (certificación).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xt104"/>
          <p:cNvSpPr txBox="1"/>
          <p:nvPr/>
        </p:nvSpPr>
        <p:spPr>
          <a:xfrm>
            <a:off x="548640" y="301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5"/>
                </a:solidFill>
              </a:rPr>
              <a:t>CONTEXTO Y ESTRATEGIA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Enfoque estratégico de las pruebas</a:t>
            </a:r>
            <a:endParaRPr lang="en-US" sz="3000" dirty="0"/>
          </a:p>
        </p:txBody>
      </p:sp>
      <p:sp>
        <p:nvSpPr>
          <p:cNvPr id="5" name="card105"/>
          <p:cNvSpPr/>
          <p:nvPr/>
        </p:nvSpPr>
        <p:spPr>
          <a:xfrm>
            <a:off x="548640" y="1417320"/>
            <a:ext cx="5422392" cy="1444752"/>
          </a:xfrm>
          <a:prstGeom prst="roundRect">
            <a:avLst>
              <a:gd name="adj" fmla="val 759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circle106"/>
          <p:cNvSpPr/>
          <p:nvPr/>
        </p:nvSpPr>
        <p:spPr>
          <a:xfrm>
            <a:off x="777240" y="1645920"/>
            <a:ext cx="566928" cy="566928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p/>
        </p:txBody>
      </p:sp>
      <p:pic>
        <p:nvPicPr>
          <p:cNvPr id="7" name="icon10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1787652"/>
            <a:ext cx="283464" cy="283464"/>
          </a:xfrm>
          <a:prstGeom prst="rect">
            <a:avLst/>
          </a:prstGeom>
        </p:spPr>
      </p:pic>
      <p:sp>
        <p:nvSpPr>
          <p:cNvPr id="8" name="txt108"/>
          <p:cNvSpPr txBox="1"/>
          <p:nvPr/>
        </p:nvSpPr>
        <p:spPr>
          <a:xfrm>
            <a:off x="1508760" y="1645920"/>
            <a:ext cx="4233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Enfoque mixto</a:t>
            </a:r>
            <a:endParaRPr lang="en-US" sz="1700" dirty="0"/>
          </a:p>
        </p:txBody>
      </p:sp>
      <p:sp>
        <p:nvSpPr>
          <p:cNvPr id="9" name="txt109"/>
          <p:cNvSpPr txBox="1"/>
          <p:nvPr/>
        </p:nvSpPr>
        <p:spPr>
          <a:xfrm>
            <a:off x="777240" y="2350008"/>
            <a:ext cx="4965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Ejecución manual reproducible (curl) + análisis estático automatizado + revisión manual de código.</a:t>
            </a:r>
            <a:endParaRPr lang="en-US" sz="1400" dirty="0"/>
          </a:p>
        </p:txBody>
      </p:sp>
      <p:sp>
        <p:nvSpPr>
          <p:cNvPr id="10" name="card110"/>
          <p:cNvSpPr/>
          <p:nvPr/>
        </p:nvSpPr>
        <p:spPr>
          <a:xfrm>
            <a:off x="6217920" y="1417320"/>
            <a:ext cx="5422392" cy="1444752"/>
          </a:xfrm>
          <a:prstGeom prst="roundRect">
            <a:avLst>
              <a:gd name="adj" fmla="val 759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circle111"/>
          <p:cNvSpPr/>
          <p:nvPr/>
        </p:nvSpPr>
        <p:spPr>
          <a:xfrm>
            <a:off x="6446520" y="1645920"/>
            <a:ext cx="566928" cy="566928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p/>
        </p:txBody>
      </p:sp>
      <p:pic>
        <p:nvPicPr>
          <p:cNvPr id="12" name="icon11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252" y="1787652"/>
            <a:ext cx="283464" cy="283464"/>
          </a:xfrm>
          <a:prstGeom prst="rect">
            <a:avLst/>
          </a:prstGeom>
        </p:spPr>
      </p:pic>
      <p:sp>
        <p:nvSpPr>
          <p:cNvPr id="13" name="txt113"/>
          <p:cNvSpPr txBox="1"/>
          <p:nvPr/>
        </p:nvSpPr>
        <p:spPr>
          <a:xfrm>
            <a:off x="7178040" y="1645920"/>
            <a:ext cx="4233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Priorización por riesgo</a:t>
            </a:r>
            <a:endParaRPr lang="en-US" sz="1700" dirty="0"/>
          </a:p>
        </p:txBody>
      </p:sp>
      <p:sp>
        <p:nvSpPr>
          <p:cNvPr id="14" name="txt114"/>
          <p:cNvSpPr txBox="1"/>
          <p:nvPr/>
        </p:nvSpPr>
        <p:spPr>
          <a:xfrm>
            <a:off x="6446520" y="2350008"/>
            <a:ext cx="4965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Primero seguridad (control de acceso, archivos, inyección), luego funcional core, luego no funcional.</a:t>
            </a:r>
            <a:endParaRPr lang="en-US" sz="1400" dirty="0"/>
          </a:p>
        </p:txBody>
      </p:sp>
      <p:sp>
        <p:nvSpPr>
          <p:cNvPr id="15" name="card115"/>
          <p:cNvSpPr/>
          <p:nvPr/>
        </p:nvSpPr>
        <p:spPr>
          <a:xfrm>
            <a:off x="548640" y="3044952"/>
            <a:ext cx="5422392" cy="1444752"/>
          </a:xfrm>
          <a:prstGeom prst="roundRect">
            <a:avLst>
              <a:gd name="adj" fmla="val 759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" name="circle116"/>
          <p:cNvSpPr/>
          <p:nvPr/>
        </p:nvSpPr>
        <p:spPr>
          <a:xfrm>
            <a:off x="777240" y="3273552"/>
            <a:ext cx="566928" cy="566928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p/>
        </p:txBody>
      </p:sp>
      <p:pic>
        <p:nvPicPr>
          <p:cNvPr id="17" name="icon11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3415284"/>
            <a:ext cx="283464" cy="283464"/>
          </a:xfrm>
          <a:prstGeom prst="rect">
            <a:avLst/>
          </a:prstGeom>
        </p:spPr>
      </p:pic>
      <p:sp>
        <p:nvSpPr>
          <p:cNvPr id="18" name="txt118"/>
          <p:cNvSpPr txBox="1"/>
          <p:nvPr/>
        </p:nvSpPr>
        <p:spPr>
          <a:xfrm>
            <a:off x="1508760" y="3273552"/>
            <a:ext cx="4233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Ciclo 1 — Smoke Test</a:t>
            </a:r>
            <a:endParaRPr lang="en-US" sz="1700" dirty="0"/>
          </a:p>
        </p:txBody>
      </p:sp>
      <p:sp>
        <p:nvSpPr>
          <p:cNvPr id="19" name="txt119"/>
          <p:cNvSpPr txBox="1"/>
          <p:nvPr/>
        </p:nvSpPr>
        <p:spPr>
          <a:xfrm>
            <a:off x="777240" y="3977640"/>
            <a:ext cx="4965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Funciones base (login, salud API, Swagger); si falla, se detiene.</a:t>
            </a:r>
            <a:endParaRPr lang="en-US" sz="1400" dirty="0"/>
          </a:p>
        </p:txBody>
      </p:sp>
      <p:sp>
        <p:nvSpPr>
          <p:cNvPr id="20" name="card120"/>
          <p:cNvSpPr/>
          <p:nvPr/>
        </p:nvSpPr>
        <p:spPr>
          <a:xfrm>
            <a:off x="6217920" y="3044952"/>
            <a:ext cx="5422392" cy="1444752"/>
          </a:xfrm>
          <a:prstGeom prst="roundRect">
            <a:avLst>
              <a:gd name="adj" fmla="val 759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" name="circle121"/>
          <p:cNvSpPr/>
          <p:nvPr/>
        </p:nvSpPr>
        <p:spPr>
          <a:xfrm>
            <a:off x="6446520" y="3273552"/>
            <a:ext cx="566928" cy="566928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p/>
        </p:txBody>
      </p:sp>
      <p:pic>
        <p:nvPicPr>
          <p:cNvPr id="22" name="icon12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252" y="3415284"/>
            <a:ext cx="283464" cy="283464"/>
          </a:xfrm>
          <a:prstGeom prst="rect">
            <a:avLst/>
          </a:prstGeom>
        </p:spPr>
      </p:pic>
      <p:sp>
        <p:nvSpPr>
          <p:cNvPr id="23" name="txt123"/>
          <p:cNvSpPr txBox="1"/>
          <p:nvPr/>
        </p:nvSpPr>
        <p:spPr>
          <a:xfrm>
            <a:off x="7178040" y="3273552"/>
            <a:ext cx="4233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Ciclo 2 — Ejecución</a:t>
            </a:r>
            <a:endParaRPr lang="en-US" sz="1700" dirty="0"/>
          </a:p>
        </p:txBody>
      </p:sp>
      <p:sp>
        <p:nvSpPr>
          <p:cNvPr id="24" name="txt124"/>
          <p:cNvSpPr txBox="1"/>
          <p:nvPr/>
        </p:nvSpPr>
        <p:spPr>
          <a:xfrm>
            <a:off x="6446520" y="3977640"/>
            <a:ext cx="4965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14 casos: 12 funcionales/seguridad + 2 no funcionales (rendimiento y usabilidad), más pruebas complementarias.</a:t>
            </a:r>
            <a:endParaRPr lang="en-US" sz="1400" dirty="0"/>
          </a:p>
        </p:txBody>
      </p:sp>
      <p:sp>
        <p:nvSpPr>
          <p:cNvPr id="25" name="card125"/>
          <p:cNvSpPr/>
          <p:nvPr/>
        </p:nvSpPr>
        <p:spPr>
          <a:xfrm>
            <a:off x="548640" y="4672584"/>
            <a:ext cx="5422392" cy="1444752"/>
          </a:xfrm>
          <a:prstGeom prst="roundRect">
            <a:avLst>
              <a:gd name="adj" fmla="val 759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6" name="circle126"/>
          <p:cNvSpPr/>
          <p:nvPr/>
        </p:nvSpPr>
        <p:spPr>
          <a:xfrm>
            <a:off x="777240" y="4901184"/>
            <a:ext cx="566928" cy="566928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p/>
        </p:txBody>
      </p:sp>
      <p:pic>
        <p:nvPicPr>
          <p:cNvPr id="27" name="icon12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" y="5042916"/>
            <a:ext cx="283464" cy="283464"/>
          </a:xfrm>
          <a:prstGeom prst="rect">
            <a:avLst/>
          </a:prstGeom>
        </p:spPr>
      </p:pic>
      <p:sp>
        <p:nvSpPr>
          <p:cNvPr id="28" name="txt128"/>
          <p:cNvSpPr txBox="1"/>
          <p:nvPr/>
        </p:nvSpPr>
        <p:spPr>
          <a:xfrm>
            <a:off x="1508760" y="4901184"/>
            <a:ext cx="4233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Criterios de entrada</a:t>
            </a:r>
            <a:endParaRPr lang="en-US" sz="1700" dirty="0"/>
          </a:p>
        </p:txBody>
      </p:sp>
      <p:sp>
        <p:nvSpPr>
          <p:cNvPr id="29" name="txt129"/>
          <p:cNvSpPr txBox="1"/>
          <p:nvPr/>
        </p:nvSpPr>
        <p:spPr>
          <a:xfrm>
            <a:off x="777240" y="5605272"/>
            <a:ext cx="4965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Entorno desplegado, datos semilla, casos revisados.</a:t>
            </a:r>
            <a:endParaRPr lang="en-US" sz="1400" dirty="0"/>
          </a:p>
        </p:txBody>
      </p:sp>
      <p:sp>
        <p:nvSpPr>
          <p:cNvPr id="30" name="card130"/>
          <p:cNvSpPr/>
          <p:nvPr/>
        </p:nvSpPr>
        <p:spPr>
          <a:xfrm>
            <a:off x="6217920" y="4672584"/>
            <a:ext cx="5422392" cy="1444752"/>
          </a:xfrm>
          <a:prstGeom prst="roundRect">
            <a:avLst>
              <a:gd name="adj" fmla="val 759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1" name="circle131"/>
          <p:cNvSpPr/>
          <p:nvPr/>
        </p:nvSpPr>
        <p:spPr>
          <a:xfrm>
            <a:off x="6446520" y="4901184"/>
            <a:ext cx="566928" cy="566928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p/>
        </p:txBody>
      </p:sp>
      <p:pic>
        <p:nvPicPr>
          <p:cNvPr id="32" name="icon13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8252" y="5042916"/>
            <a:ext cx="283464" cy="283464"/>
          </a:xfrm>
          <a:prstGeom prst="rect">
            <a:avLst/>
          </a:prstGeom>
        </p:spPr>
      </p:pic>
      <p:sp>
        <p:nvSpPr>
          <p:cNvPr id="33" name="txt133"/>
          <p:cNvSpPr txBox="1"/>
          <p:nvPr/>
        </p:nvSpPr>
        <p:spPr>
          <a:xfrm>
            <a:off x="7178040" y="4901184"/>
            <a:ext cx="4233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Criterios de salida</a:t>
            </a:r>
            <a:endParaRPr lang="en-US" sz="1700" dirty="0"/>
          </a:p>
        </p:txBody>
      </p:sp>
      <p:sp>
        <p:nvSpPr>
          <p:cNvPr id="34" name="txt134"/>
          <p:cNvSpPr txBox="1"/>
          <p:nvPr/>
        </p:nvSpPr>
        <p:spPr>
          <a:xfrm>
            <a:off x="6446520" y="5605272"/>
            <a:ext cx="4965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14 casos ejecutados con evidencia cruda (Anexo F); no se certifica con defectos CRITICO abiertos.</a:t>
            </a:r>
            <a:endParaRPr lang="en-US" sz="1400" dirty="0"/>
          </a:p>
        </p:txBody>
      </p:sp>
      <p:sp>
        <p:nvSpPr>
          <p:cNvPr id="35" name="circle135"/>
          <p:cNvSpPr/>
          <p:nvPr/>
        </p:nvSpPr>
        <p:spPr>
          <a:xfrm>
            <a:off x="5797296" y="354787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36" name="icon13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1596" y="3662172"/>
            <a:ext cx="228600" cy="228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xt137"/>
          <p:cNvSpPr txBox="1"/>
          <p:nvPr/>
        </p:nvSpPr>
        <p:spPr>
          <a:xfrm>
            <a:off x="548640" y="301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5"/>
                </a:solidFill>
              </a:rPr>
              <a:t>CONTEXTO Y ESTRATEGIA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Tipos de prueba y justificación</a:t>
            </a:r>
            <a:endParaRPr lang="en-US" sz="3000" dirty="0"/>
          </a:p>
        </p:txBody>
      </p:sp>
      <p:sp>
        <p:nvSpPr>
          <p:cNvPr id="5" name="txt138"/>
          <p:cNvSpPr txBox="1"/>
          <p:nvPr/>
        </p:nvSpPr>
        <p:spPr>
          <a:xfrm>
            <a:off x="1508760" y="1371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TIPO DE PRUEBA</a:t>
            </a:r>
            <a:endParaRPr lang="en-US" sz="1100" dirty="0"/>
          </a:p>
        </p:txBody>
      </p:sp>
      <p:sp>
        <p:nvSpPr>
          <p:cNvPr id="6" name="txt139"/>
          <p:cNvSpPr txBox="1"/>
          <p:nvPr/>
        </p:nvSpPr>
        <p:spPr>
          <a:xfrm>
            <a:off x="4023360" y="1371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¿QUÉ VERIFICA?</a:t>
            </a:r>
            <a:endParaRPr lang="en-US" sz="1100" dirty="0"/>
          </a:p>
        </p:txBody>
      </p:sp>
      <p:sp>
        <p:nvSpPr>
          <p:cNvPr id="7" name="txt140"/>
          <p:cNvSpPr txBox="1"/>
          <p:nvPr/>
        </p:nvSpPr>
        <p:spPr>
          <a:xfrm>
            <a:off x="8321040" y="1371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5"/>
                </a:solidFill>
              </a:rPr>
              <a:t>JUSTIFICACIÓN</a:t>
            </a:r>
            <a:endParaRPr lang="en-US" sz="1100" dirty="0"/>
          </a:p>
        </p:txBody>
      </p:sp>
      <p:sp>
        <p:nvSpPr>
          <p:cNvPr id="8" name="card141"/>
          <p:cNvSpPr/>
          <p:nvPr/>
        </p:nvSpPr>
        <p:spPr>
          <a:xfrm>
            <a:off x="548640" y="1691640"/>
            <a:ext cx="11091672" cy="804672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circle142"/>
          <p:cNvSpPr/>
          <p:nvPr/>
        </p:nvSpPr>
        <p:spPr>
          <a:xfrm>
            <a:off x="749808" y="1828800"/>
            <a:ext cx="530352" cy="530352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p/>
        </p:txBody>
      </p:sp>
      <p:pic>
        <p:nvPicPr>
          <p:cNvPr id="10" name="icon14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1961388"/>
            <a:ext cx="265176" cy="265176"/>
          </a:xfrm>
          <a:prstGeom prst="rect">
            <a:avLst/>
          </a:prstGeom>
        </p:spPr>
      </p:pic>
      <p:sp>
        <p:nvSpPr>
          <p:cNvPr id="11" name="txt144"/>
          <p:cNvSpPr txBox="1"/>
          <p:nvPr/>
        </p:nvSpPr>
        <p:spPr>
          <a:xfrm>
            <a:off x="1463040" y="1691640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Funcional</a:t>
            </a:r>
            <a:endParaRPr lang="en-US" sz="1600" dirty="0"/>
          </a:p>
        </p:txBody>
      </p:sp>
      <p:sp>
        <p:nvSpPr>
          <p:cNvPr id="12" name="txt145"/>
          <p:cNvSpPr txBox="1"/>
          <p:nvPr/>
        </p:nvSpPr>
        <p:spPr>
          <a:xfrm>
            <a:off x="4023360" y="1691640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Login, CRUD de clientes, contratos, usuarios, dashboard, auditoría</a:t>
            </a:r>
            <a:endParaRPr lang="en-US" sz="1400" dirty="0"/>
          </a:p>
        </p:txBody>
      </p:sp>
      <p:sp>
        <p:nvSpPr>
          <p:cNvPr id="13" name="txt146"/>
          <p:cNvSpPr txBox="1"/>
          <p:nvPr/>
        </p:nvSpPr>
        <p:spPr>
          <a:xfrm>
            <a:off x="8321040" y="1691640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Cumplimiento de RF-1 a RF-6 del ERS</a:t>
            </a:r>
            <a:endParaRPr lang="en-US" sz="1400" dirty="0"/>
          </a:p>
        </p:txBody>
      </p:sp>
      <p:sp>
        <p:nvSpPr>
          <p:cNvPr id="14" name="card147"/>
          <p:cNvSpPr/>
          <p:nvPr/>
        </p:nvSpPr>
        <p:spPr>
          <a:xfrm>
            <a:off x="548640" y="2596896"/>
            <a:ext cx="11091672" cy="804672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circle148"/>
          <p:cNvSpPr/>
          <p:nvPr/>
        </p:nvSpPr>
        <p:spPr>
          <a:xfrm>
            <a:off x="749808" y="2734056"/>
            <a:ext cx="530352" cy="53035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16" name="icon14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396" y="2866644"/>
            <a:ext cx="265176" cy="265176"/>
          </a:xfrm>
          <a:prstGeom prst="rect">
            <a:avLst/>
          </a:prstGeom>
        </p:spPr>
      </p:pic>
      <p:sp>
        <p:nvSpPr>
          <p:cNvPr id="17" name="txt150"/>
          <p:cNvSpPr txBox="1"/>
          <p:nvPr/>
        </p:nvSpPr>
        <p:spPr>
          <a:xfrm>
            <a:off x="1463040" y="2596896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Seguridad</a:t>
            </a:r>
            <a:endParaRPr lang="en-US" sz="1600" dirty="0"/>
          </a:p>
        </p:txBody>
      </p:sp>
      <p:sp>
        <p:nvSpPr>
          <p:cNvPr id="18" name="txt151"/>
          <p:cNvSpPr txBox="1"/>
          <p:nvPr/>
        </p:nvSpPr>
        <p:spPr>
          <a:xfrm>
            <a:off x="4023360" y="2596896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Control de acceso, upload de archivos, SQLi, CORS, fuerza bruta</a:t>
            </a:r>
            <a:endParaRPr lang="en-US" sz="1400" dirty="0"/>
          </a:p>
        </p:txBody>
      </p:sp>
      <p:sp>
        <p:nvSpPr>
          <p:cNvPr id="19" name="txt152"/>
          <p:cNvSpPr txBox="1"/>
          <p:nvPr/>
        </p:nvSpPr>
        <p:spPr>
          <a:xfrm>
            <a:off x="8321040" y="2596896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NFR-SEG del ERS; hallazgos del EP1</a:t>
            </a:r>
            <a:endParaRPr lang="en-US" sz="1400" dirty="0"/>
          </a:p>
        </p:txBody>
      </p:sp>
      <p:sp>
        <p:nvSpPr>
          <p:cNvPr id="20" name="card153"/>
          <p:cNvSpPr/>
          <p:nvPr/>
        </p:nvSpPr>
        <p:spPr>
          <a:xfrm>
            <a:off x="548640" y="3502152"/>
            <a:ext cx="11091672" cy="804672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" name="circle154"/>
          <p:cNvSpPr/>
          <p:nvPr/>
        </p:nvSpPr>
        <p:spPr>
          <a:xfrm>
            <a:off x="749808" y="3639312"/>
            <a:ext cx="530352" cy="530352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p/>
        </p:txBody>
      </p:sp>
      <p:pic>
        <p:nvPicPr>
          <p:cNvPr id="22" name="icon15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" y="3771900"/>
            <a:ext cx="265176" cy="265176"/>
          </a:xfrm>
          <a:prstGeom prst="rect">
            <a:avLst/>
          </a:prstGeom>
        </p:spPr>
      </p:pic>
      <p:sp>
        <p:nvSpPr>
          <p:cNvPr id="23" name="txt156"/>
          <p:cNvSpPr txBox="1"/>
          <p:nvPr/>
        </p:nvSpPr>
        <p:spPr>
          <a:xfrm>
            <a:off x="1463040" y="3502152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Integración</a:t>
            </a:r>
            <a:endParaRPr lang="en-US" sz="1600" dirty="0"/>
          </a:p>
        </p:txBody>
      </p:sp>
      <p:sp>
        <p:nvSpPr>
          <p:cNvPr id="24" name="txt157"/>
          <p:cNvSpPr txBox="1"/>
          <p:nvPr/>
        </p:nvSpPr>
        <p:spPr>
          <a:xfrm>
            <a:off x="4023360" y="3502152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Flujo completo frontend → API → PostgreSQL y Swagger</a:t>
            </a:r>
            <a:endParaRPr lang="en-US" sz="1400" dirty="0"/>
          </a:p>
        </p:txBody>
      </p:sp>
      <p:sp>
        <p:nvSpPr>
          <p:cNvPr id="25" name="txt158"/>
          <p:cNvSpPr txBox="1"/>
          <p:nvPr/>
        </p:nvSpPr>
        <p:spPr>
          <a:xfrm>
            <a:off x="8321040" y="3502152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Coherencia de las 3 capas del sistema</a:t>
            </a:r>
            <a:endParaRPr lang="en-US" sz="1400" dirty="0"/>
          </a:p>
        </p:txBody>
      </p:sp>
      <p:sp>
        <p:nvSpPr>
          <p:cNvPr id="26" name="card159"/>
          <p:cNvSpPr/>
          <p:nvPr/>
        </p:nvSpPr>
        <p:spPr>
          <a:xfrm>
            <a:off x="548640" y="4407408"/>
            <a:ext cx="11091672" cy="804672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circle160"/>
          <p:cNvSpPr/>
          <p:nvPr/>
        </p:nvSpPr>
        <p:spPr>
          <a:xfrm>
            <a:off x="749808" y="4544568"/>
            <a:ext cx="530352" cy="530352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p/>
        </p:txBody>
      </p:sp>
      <p:pic>
        <p:nvPicPr>
          <p:cNvPr id="28" name="icon16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" y="4677156"/>
            <a:ext cx="265176" cy="265176"/>
          </a:xfrm>
          <a:prstGeom prst="rect">
            <a:avLst/>
          </a:prstGeom>
        </p:spPr>
      </p:pic>
      <p:sp>
        <p:nvSpPr>
          <p:cNvPr id="29" name="txt162"/>
          <p:cNvSpPr txBox="1"/>
          <p:nvPr/>
        </p:nvSpPr>
        <p:spPr>
          <a:xfrm>
            <a:off x="1463040" y="4407408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Rendimiento (no funcional)</a:t>
            </a:r>
            <a:endParaRPr lang="en-US" sz="1600" dirty="0"/>
          </a:p>
        </p:txBody>
      </p:sp>
      <p:sp>
        <p:nvSpPr>
          <p:cNvPr id="30" name="txt163"/>
          <p:cNvSpPr txBox="1"/>
          <p:nvPr/>
        </p:nvSpPr>
        <p:spPr>
          <a:xfrm>
            <a:off x="4023360" y="4407408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Tiempos de CRUD vs umbral (&lt;300 ms) con 5 mediciones</a:t>
            </a:r>
            <a:endParaRPr lang="en-US" sz="1400" dirty="0"/>
          </a:p>
        </p:txBody>
      </p:sp>
      <p:sp>
        <p:nvSpPr>
          <p:cNvPr id="31" name="txt164"/>
          <p:cNvSpPr txBox="1"/>
          <p:nvPr/>
        </p:nvSpPr>
        <p:spPr>
          <a:xfrm>
            <a:off x="8321040" y="4407408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Detectar latencia de 4 s del código</a:t>
            </a:r>
            <a:endParaRPr lang="en-US" sz="1400" dirty="0"/>
          </a:p>
        </p:txBody>
      </p:sp>
      <p:sp>
        <p:nvSpPr>
          <p:cNvPr id="32" name="card165"/>
          <p:cNvSpPr/>
          <p:nvPr/>
        </p:nvSpPr>
        <p:spPr>
          <a:xfrm>
            <a:off x="548640" y="5312664"/>
            <a:ext cx="11091672" cy="804672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3" name="circle166"/>
          <p:cNvSpPr/>
          <p:nvPr/>
        </p:nvSpPr>
        <p:spPr>
          <a:xfrm>
            <a:off x="749808" y="5449824"/>
            <a:ext cx="530352" cy="530352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p/>
        </p:txBody>
      </p:sp>
      <p:pic>
        <p:nvPicPr>
          <p:cNvPr id="34" name="icon16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" y="5582412"/>
            <a:ext cx="265176" cy="265176"/>
          </a:xfrm>
          <a:prstGeom prst="rect">
            <a:avLst/>
          </a:prstGeom>
        </p:spPr>
      </p:pic>
      <p:sp>
        <p:nvSpPr>
          <p:cNvPr id="35" name="txt168"/>
          <p:cNvSpPr txBox="1"/>
          <p:nvPr/>
        </p:nvSpPr>
        <p:spPr>
          <a:xfrm>
            <a:off x="1463040" y="5312664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Usabilidad</a:t>
            </a:r>
            <a:endParaRPr lang="en-US" sz="1600" dirty="0"/>
          </a:p>
        </p:txBody>
      </p:sp>
      <p:sp>
        <p:nvSpPr>
          <p:cNvPr id="36" name="txt169"/>
          <p:cNvSpPr txBox="1"/>
          <p:nvPr/>
        </p:nvSpPr>
        <p:spPr>
          <a:xfrm>
            <a:off x="4023360" y="5312664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Lista de verificación de usabilidad + Lighthouse</a:t>
            </a:r>
            <a:endParaRPr lang="en-US" sz="1400" dirty="0"/>
          </a:p>
        </p:txBody>
      </p:sp>
      <p:sp>
        <p:nvSpPr>
          <p:cNvPr id="37" name="txt170"/>
          <p:cNvSpPr txBox="1"/>
          <p:nvPr/>
        </p:nvSpPr>
        <p:spPr>
          <a:xfrm>
            <a:off x="8321040" y="5312664"/>
            <a:ext cx="3200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NFR-USAB; experiencia de usuario final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xt171"/>
          <p:cNvSpPr txBox="1"/>
          <p:nvPr/>
        </p:nvSpPr>
        <p:spPr>
          <a:xfrm>
            <a:off x="548640" y="301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5"/>
                </a:solidFill>
              </a:rPr>
              <a:t>CONTEXTO Y ESTRATEGIA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Herramientas seleccionadas</a:t>
            </a:r>
            <a:endParaRPr lang="en-US" sz="3000" dirty="0"/>
          </a:p>
        </p:txBody>
      </p:sp>
      <p:sp>
        <p:nvSpPr>
          <p:cNvPr id="5" name="card172"/>
          <p:cNvSpPr/>
          <p:nvPr/>
        </p:nvSpPr>
        <p:spPr>
          <a:xfrm>
            <a:off x="548640" y="141732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circle173"/>
          <p:cNvSpPr/>
          <p:nvPr/>
        </p:nvSpPr>
        <p:spPr>
          <a:xfrm>
            <a:off x="777240" y="1618488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7" name="icon17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55648"/>
            <a:ext cx="274320" cy="274320"/>
          </a:xfrm>
          <a:prstGeom prst="rect">
            <a:avLst/>
          </a:prstGeom>
        </p:spPr>
      </p:pic>
      <p:sp>
        <p:nvSpPr>
          <p:cNvPr id="8" name="txt175"/>
          <p:cNvSpPr txBox="1"/>
          <p:nvPr/>
        </p:nvSpPr>
        <p:spPr>
          <a:xfrm>
            <a:off x="1508760" y="16184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Docker Compose</a:t>
            </a:r>
            <a:endParaRPr lang="en-US" sz="1800" dirty="0"/>
          </a:p>
        </p:txBody>
      </p:sp>
      <p:sp>
        <p:nvSpPr>
          <p:cNvPr id="9" name="txt176"/>
          <p:cNvSpPr txBox="1"/>
          <p:nvPr/>
        </p:nvSpPr>
        <p:spPr>
          <a:xfrm>
            <a:off x="777240" y="23317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USO</a:t>
            </a:r>
            <a:endParaRPr lang="en-US" sz="1000" dirty="0"/>
          </a:p>
        </p:txBody>
      </p:sp>
      <p:sp>
        <p:nvSpPr>
          <p:cNvPr id="10" name="txt177"/>
          <p:cNvSpPr txBox="1"/>
          <p:nvPr/>
        </p:nvSpPr>
        <p:spPr>
          <a:xfrm>
            <a:off x="777240" y="2514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Despliegue del entorno completo</a:t>
            </a:r>
            <a:endParaRPr lang="en-US" sz="1400" dirty="0"/>
          </a:p>
        </p:txBody>
      </p:sp>
      <p:sp>
        <p:nvSpPr>
          <p:cNvPr id="11" name="txt178"/>
          <p:cNvSpPr txBox="1"/>
          <p:nvPr/>
        </p:nvSpPr>
        <p:spPr>
          <a:xfrm>
            <a:off x="777240" y="297180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JUSTIFICACIÓN</a:t>
            </a:r>
            <a:endParaRPr lang="en-US" sz="1000" dirty="0"/>
          </a:p>
        </p:txBody>
      </p:sp>
      <p:sp>
        <p:nvSpPr>
          <p:cNvPr id="12" name="txt179"/>
          <p:cNvSpPr txBox="1"/>
          <p:nvPr/>
        </p:nvSpPr>
        <p:spPr>
          <a:xfrm>
            <a:off x="777240" y="3154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Reproduce el ambiente de forma aislada y verificable</a:t>
            </a:r>
            <a:endParaRPr lang="en-US" sz="1300" dirty="0"/>
          </a:p>
        </p:txBody>
      </p:sp>
      <p:sp>
        <p:nvSpPr>
          <p:cNvPr id="13" name="card180"/>
          <p:cNvSpPr/>
          <p:nvPr/>
        </p:nvSpPr>
        <p:spPr>
          <a:xfrm>
            <a:off x="4311396" y="141732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</p:sp>
      <p:sp>
        <p:nvSpPr>
          <p:cNvPr id="14" name="circle181"/>
          <p:cNvSpPr/>
          <p:nvPr/>
        </p:nvSpPr>
        <p:spPr>
          <a:xfrm>
            <a:off x="4539996" y="1618488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5" name="icon18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156" y="1755648"/>
            <a:ext cx="274320" cy="274320"/>
          </a:xfrm>
          <a:prstGeom prst="rect">
            <a:avLst/>
          </a:prstGeom>
        </p:spPr>
      </p:pic>
      <p:sp>
        <p:nvSpPr>
          <p:cNvPr id="16" name="txt183"/>
          <p:cNvSpPr txBox="1"/>
          <p:nvPr/>
        </p:nvSpPr>
        <p:spPr>
          <a:xfrm>
            <a:off x="5271516" y="16184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curl</a:t>
            </a:r>
            <a:endParaRPr lang="en-US" sz="1800" dirty="0"/>
          </a:p>
        </p:txBody>
      </p:sp>
      <p:sp>
        <p:nvSpPr>
          <p:cNvPr id="17" name="txt184"/>
          <p:cNvSpPr txBox="1"/>
          <p:nvPr/>
        </p:nvSpPr>
        <p:spPr>
          <a:xfrm>
            <a:off x="4539996" y="23317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USO</a:t>
            </a:r>
            <a:endParaRPr lang="en-US" sz="1000" dirty="0"/>
          </a:p>
        </p:txBody>
      </p:sp>
      <p:sp>
        <p:nvSpPr>
          <p:cNvPr id="18" name="txt185"/>
          <p:cNvSpPr txBox="1"/>
          <p:nvPr/>
        </p:nvSpPr>
        <p:spPr>
          <a:xfrm>
            <a:off x="4539996" y="2514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Pruebas manuales de la API REST</a:t>
            </a:r>
            <a:endParaRPr lang="en-US" sz="1400" dirty="0"/>
          </a:p>
        </p:txBody>
      </p:sp>
      <p:sp>
        <p:nvSpPr>
          <p:cNvPr id="19" name="txt186"/>
          <p:cNvSpPr txBox="1"/>
          <p:nvPr/>
        </p:nvSpPr>
        <p:spPr>
          <a:xfrm>
            <a:off x="4539996" y="297180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JUSTIFICACIÓN</a:t>
            </a:r>
            <a:endParaRPr lang="en-US" sz="1000" dirty="0"/>
          </a:p>
        </p:txBody>
      </p:sp>
      <p:sp>
        <p:nvSpPr>
          <p:cNvPr id="20" name="txt187"/>
          <p:cNvSpPr txBox="1"/>
          <p:nvPr/>
        </p:nvSpPr>
        <p:spPr>
          <a:xfrm>
            <a:off x="4539996" y="3154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Control de token, cabeceras y payloads con evidencia HTTP</a:t>
            </a:r>
            <a:endParaRPr lang="en-US" sz="1300" dirty="0"/>
          </a:p>
        </p:txBody>
      </p:sp>
      <p:sp>
        <p:nvSpPr>
          <p:cNvPr id="21" name="card188"/>
          <p:cNvSpPr/>
          <p:nvPr/>
        </p:nvSpPr>
        <p:spPr>
          <a:xfrm>
            <a:off x="8074152" y="141732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</p:sp>
      <p:sp>
        <p:nvSpPr>
          <p:cNvPr id="22" name="circle189"/>
          <p:cNvSpPr/>
          <p:nvPr/>
        </p:nvSpPr>
        <p:spPr>
          <a:xfrm>
            <a:off x="8302752" y="1618488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3" name="icon19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1755648"/>
            <a:ext cx="274320" cy="274320"/>
          </a:xfrm>
          <a:prstGeom prst="rect">
            <a:avLst/>
          </a:prstGeom>
        </p:spPr>
      </p:pic>
      <p:sp>
        <p:nvSpPr>
          <p:cNvPr id="24" name="txt191"/>
          <p:cNvSpPr txBox="1"/>
          <p:nvPr/>
        </p:nvSpPr>
        <p:spPr>
          <a:xfrm>
            <a:off x="9034272" y="16184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ESLint 9</a:t>
            </a:r>
            <a:endParaRPr lang="en-US" sz="1800" dirty="0"/>
          </a:p>
        </p:txBody>
      </p:sp>
      <p:sp>
        <p:nvSpPr>
          <p:cNvPr id="25" name="txt192"/>
          <p:cNvSpPr txBox="1"/>
          <p:nvPr/>
        </p:nvSpPr>
        <p:spPr>
          <a:xfrm>
            <a:off x="8302752" y="23317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USO</a:t>
            </a:r>
            <a:endParaRPr lang="en-US" sz="1000" dirty="0"/>
          </a:p>
        </p:txBody>
      </p:sp>
      <p:sp>
        <p:nvSpPr>
          <p:cNvPr id="26" name="txt193"/>
          <p:cNvSpPr txBox="1"/>
          <p:nvPr/>
        </p:nvSpPr>
        <p:spPr>
          <a:xfrm>
            <a:off x="8302752" y="2514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Análisis estático de calidad de código</a:t>
            </a:r>
            <a:endParaRPr lang="en-US" sz="1400" dirty="0"/>
          </a:p>
        </p:txBody>
      </p:sp>
      <p:sp>
        <p:nvSpPr>
          <p:cNvPr id="27" name="txt194"/>
          <p:cNvSpPr txBox="1"/>
          <p:nvPr/>
        </p:nvSpPr>
        <p:spPr>
          <a:xfrm>
            <a:off x="8302752" y="297180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JUSTIFICACIÓN</a:t>
            </a:r>
            <a:endParaRPr lang="en-US" sz="1000" dirty="0"/>
          </a:p>
        </p:txBody>
      </p:sp>
      <p:sp>
        <p:nvSpPr>
          <p:cNvPr id="28" name="txt195"/>
          <p:cNvSpPr txBox="1"/>
          <p:nvPr/>
        </p:nvSpPr>
        <p:spPr>
          <a:xfrm>
            <a:off x="8302752" y="3154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Detecta errores y malas prácticas de forma automática</a:t>
            </a:r>
            <a:endParaRPr lang="en-US" sz="1300" dirty="0"/>
          </a:p>
        </p:txBody>
      </p:sp>
      <p:sp>
        <p:nvSpPr>
          <p:cNvPr id="29" name="card196"/>
          <p:cNvSpPr/>
          <p:nvPr/>
        </p:nvSpPr>
        <p:spPr>
          <a:xfrm>
            <a:off x="548640" y="379476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</p:sp>
      <p:sp>
        <p:nvSpPr>
          <p:cNvPr id="30" name="circle197"/>
          <p:cNvSpPr/>
          <p:nvPr/>
        </p:nvSpPr>
        <p:spPr>
          <a:xfrm>
            <a:off x="777240" y="3995928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1" name="icon19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133088"/>
            <a:ext cx="274320" cy="274320"/>
          </a:xfrm>
          <a:prstGeom prst="rect">
            <a:avLst/>
          </a:prstGeom>
        </p:spPr>
      </p:pic>
      <p:sp>
        <p:nvSpPr>
          <p:cNvPr id="32" name="txt199"/>
          <p:cNvSpPr txBox="1"/>
          <p:nvPr/>
        </p:nvSpPr>
        <p:spPr>
          <a:xfrm>
            <a:off x="1508760" y="39959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SonarQube 10.6</a:t>
            </a:r>
            <a:endParaRPr lang="en-US" sz="1800" dirty="0"/>
          </a:p>
        </p:txBody>
      </p:sp>
      <p:sp>
        <p:nvSpPr>
          <p:cNvPr id="33" name="txt200"/>
          <p:cNvSpPr txBox="1"/>
          <p:nvPr/>
        </p:nvSpPr>
        <p:spPr>
          <a:xfrm>
            <a:off x="777240" y="470916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USO</a:t>
            </a:r>
            <a:endParaRPr lang="en-US" sz="1000" dirty="0"/>
          </a:p>
        </p:txBody>
      </p:sp>
      <p:sp>
        <p:nvSpPr>
          <p:cNvPr id="34" name="txt201"/>
          <p:cNvSpPr txBox="1"/>
          <p:nvPr/>
        </p:nvSpPr>
        <p:spPr>
          <a:xfrm>
            <a:off x="777240" y="4892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Análisis estático de seguridad y calidad</a:t>
            </a:r>
            <a:endParaRPr lang="en-US" sz="1400" dirty="0"/>
          </a:p>
        </p:txBody>
      </p:sp>
      <p:sp>
        <p:nvSpPr>
          <p:cNvPr id="35" name="txt202"/>
          <p:cNvSpPr txBox="1"/>
          <p:nvPr/>
        </p:nvSpPr>
        <p:spPr>
          <a:xfrm>
            <a:off x="777240" y="534924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JUSTIFICACIÓN</a:t>
            </a:r>
            <a:endParaRPr lang="en-US" sz="1000" dirty="0"/>
          </a:p>
        </p:txBody>
      </p:sp>
      <p:sp>
        <p:nvSpPr>
          <p:cNvPr id="36" name="txt203"/>
          <p:cNvSpPr txBox="1"/>
          <p:nvPr/>
        </p:nvSpPr>
        <p:spPr>
          <a:xfrm>
            <a:off x="777240" y="5532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Métricas de bugs, vulnerabilidades, hotspots y duplicación</a:t>
            </a:r>
            <a:endParaRPr lang="en-US" sz="1300" dirty="0"/>
          </a:p>
        </p:txBody>
      </p:sp>
      <p:sp>
        <p:nvSpPr>
          <p:cNvPr id="37" name="card204"/>
          <p:cNvSpPr/>
          <p:nvPr/>
        </p:nvSpPr>
        <p:spPr>
          <a:xfrm>
            <a:off x="4311396" y="379476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</p:sp>
      <p:sp>
        <p:nvSpPr>
          <p:cNvPr id="38" name="circle205"/>
          <p:cNvSpPr/>
          <p:nvPr/>
        </p:nvSpPr>
        <p:spPr>
          <a:xfrm>
            <a:off x="4539996" y="3995928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9" name="icon206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156" y="4133088"/>
            <a:ext cx="274320" cy="274320"/>
          </a:xfrm>
          <a:prstGeom prst="rect">
            <a:avLst/>
          </a:prstGeom>
        </p:spPr>
      </p:pic>
      <p:sp>
        <p:nvSpPr>
          <p:cNvPr id="40" name="txt207"/>
          <p:cNvSpPr txBox="1"/>
          <p:nvPr/>
        </p:nvSpPr>
        <p:spPr>
          <a:xfrm>
            <a:off x="5271516" y="39959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Revisión manual</a:t>
            </a:r>
            <a:endParaRPr lang="en-US" sz="1800" dirty="0"/>
          </a:p>
        </p:txBody>
      </p:sp>
      <p:sp>
        <p:nvSpPr>
          <p:cNvPr id="41" name="txt208"/>
          <p:cNvSpPr txBox="1"/>
          <p:nvPr/>
        </p:nvSpPr>
        <p:spPr>
          <a:xfrm>
            <a:off x="4539996" y="470916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USO</a:t>
            </a:r>
            <a:endParaRPr lang="en-US" sz="1000" dirty="0"/>
          </a:p>
        </p:txBody>
      </p:sp>
      <p:sp>
        <p:nvSpPr>
          <p:cNvPr id="42" name="txt209"/>
          <p:cNvSpPr txBox="1"/>
          <p:nvPr/>
        </p:nvSpPr>
        <p:spPr>
          <a:xfrm>
            <a:off x="4539996" y="4892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Auditoría de seguridad del código fuente</a:t>
            </a:r>
            <a:endParaRPr lang="en-US" sz="1400" dirty="0"/>
          </a:p>
        </p:txBody>
      </p:sp>
      <p:sp>
        <p:nvSpPr>
          <p:cNvPr id="43" name="txt210"/>
          <p:cNvSpPr txBox="1"/>
          <p:nvPr/>
        </p:nvSpPr>
        <p:spPr>
          <a:xfrm>
            <a:off x="4539996" y="534924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JUSTIFICACIÓN</a:t>
            </a:r>
            <a:endParaRPr lang="en-US" sz="1000" dirty="0"/>
          </a:p>
        </p:txBody>
      </p:sp>
      <p:sp>
        <p:nvSpPr>
          <p:cNvPr id="44" name="txt211"/>
          <p:cNvSpPr txBox="1"/>
          <p:nvPr/>
        </p:nvSpPr>
        <p:spPr>
          <a:xfrm>
            <a:off x="4539996" y="5532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Identifica hallazgos que la herramienta no cubre</a:t>
            </a:r>
            <a:endParaRPr lang="en-US" sz="1300" dirty="0"/>
          </a:p>
        </p:txBody>
      </p:sp>
      <p:sp>
        <p:nvSpPr>
          <p:cNvPr id="45" name="card212"/>
          <p:cNvSpPr/>
          <p:nvPr/>
        </p:nvSpPr>
        <p:spPr>
          <a:xfrm>
            <a:off x="8074152" y="379476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tx1"/>
          </a:solidFill>
          <a:ln/>
        </p:spPr>
      </p:sp>
      <p:sp>
        <p:nvSpPr>
          <p:cNvPr id="46" name="txt213"/>
          <p:cNvSpPr txBox="1"/>
          <p:nvPr/>
        </p:nvSpPr>
        <p:spPr>
          <a:xfrm>
            <a:off x="8302752" y="39776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4"/>
                </a:solidFill>
              </a:rPr>
              <a:t>RECURSOS</a:t>
            </a:r>
            <a:endParaRPr lang="en-US" sz="1100" dirty="0"/>
          </a:p>
        </p:txBody>
      </p:sp>
      <p:sp>
        <p:nvSpPr>
          <p:cNvPr id="47" name="txt214"/>
          <p:cNvSpPr txBox="1"/>
          <p:nvPr/>
        </p:nvSpPr>
        <p:spPr>
          <a:xfrm>
            <a:off x="8302752" y="42976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1 líder de QA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1 tester funcional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1 tester de seguridad</a:t>
            </a:r>
            <a:endParaRPr lang="en-US" sz="1500" dirty="0"/>
          </a:p>
        </p:txBody>
      </p:sp>
      <p:sp>
        <p:nvSpPr>
          <p:cNvPr id="48" name="txt215"/>
          <p:cNvSpPr txBox="1"/>
          <p:nvPr/>
        </p:nvSpPr>
        <p:spPr>
          <a:xfrm>
            <a:off x="8302752" y="52578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Entorno QA local aislado con datos ficticios.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xt216"/>
          <p:cNvSpPr txBox="1"/>
          <p:nvPr/>
        </p:nvSpPr>
        <p:spPr>
          <a:xfrm>
            <a:off x="548640" y="301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5"/>
                </a:solidFill>
              </a:rPr>
              <a:t>EJECUCIÓN DE PRUEBAS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Ejecución de pruebas: resumen</a:t>
            </a:r>
            <a:endParaRPr lang="en-US" sz="3000" dirty="0"/>
          </a:p>
        </p:txBody>
      </p:sp>
      <p:sp>
        <p:nvSpPr>
          <p:cNvPr id="5" name="card217"/>
          <p:cNvSpPr/>
          <p:nvPr/>
        </p:nvSpPr>
        <p:spPr>
          <a:xfrm>
            <a:off x="548640" y="1417320"/>
            <a:ext cx="352044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txt218"/>
          <p:cNvSpPr txBox="1"/>
          <p:nvPr/>
        </p:nvSpPr>
        <p:spPr>
          <a:xfrm>
            <a:off x="777240" y="15270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14 / 14</a:t>
            </a:r>
            <a:endParaRPr lang="en-US" sz="3200" dirty="0"/>
          </a:p>
        </p:txBody>
      </p:sp>
      <p:sp>
        <p:nvSpPr>
          <p:cNvPr id="7" name="txt219"/>
          <p:cNvSpPr txBox="1"/>
          <p:nvPr/>
        </p:nvSpPr>
        <p:spPr>
          <a:xfrm>
            <a:off x="777240" y="21031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Casos diseñados / ejecutados (100%)</a:t>
            </a:r>
            <a:endParaRPr lang="en-US" sz="1300" dirty="0"/>
          </a:p>
        </p:txBody>
      </p:sp>
      <p:sp>
        <p:nvSpPr>
          <p:cNvPr id="8" name="card220"/>
          <p:cNvSpPr/>
          <p:nvPr/>
        </p:nvSpPr>
        <p:spPr>
          <a:xfrm>
            <a:off x="4270248" y="1417320"/>
            <a:ext cx="352044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txt221"/>
          <p:cNvSpPr txBox="1"/>
          <p:nvPr/>
        </p:nvSpPr>
        <p:spPr>
          <a:xfrm>
            <a:off x="4498848" y="15270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11 · 78,6%</a:t>
            </a:r>
            <a:endParaRPr lang="en-US" sz="3200" dirty="0"/>
          </a:p>
        </p:txBody>
      </p:sp>
      <p:sp>
        <p:nvSpPr>
          <p:cNvPr id="10" name="txt222"/>
          <p:cNvSpPr txBox="1"/>
          <p:nvPr/>
        </p:nvSpPr>
        <p:spPr>
          <a:xfrm>
            <a:off x="4498848" y="21031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Casos aprobados (Pass)</a:t>
            </a:r>
            <a:endParaRPr lang="en-US" sz="1300" dirty="0"/>
          </a:p>
        </p:txBody>
      </p:sp>
      <p:sp>
        <p:nvSpPr>
          <p:cNvPr id="11" name="card223"/>
          <p:cNvSpPr/>
          <p:nvPr/>
        </p:nvSpPr>
        <p:spPr>
          <a:xfrm>
            <a:off x="548640" y="2862072"/>
            <a:ext cx="352044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txt224"/>
          <p:cNvSpPr txBox="1"/>
          <p:nvPr/>
        </p:nvSpPr>
        <p:spPr>
          <a:xfrm>
            <a:off x="777240" y="29718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3200" dirty="0"/>
          </a:p>
        </p:txBody>
      </p:sp>
      <p:sp>
        <p:nvSpPr>
          <p:cNvPr id="13" name="txt225"/>
          <p:cNvSpPr txBox="1"/>
          <p:nvPr/>
        </p:nvSpPr>
        <p:spPr>
          <a:xfrm>
            <a:off x="777240" y="35478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Casos fallidos → CP-010 (upload .exe), CP-011 (sin token) y CP-013 (rendimiento)</a:t>
            </a:r>
            <a:endParaRPr lang="en-US" sz="1300" dirty="0"/>
          </a:p>
        </p:txBody>
      </p:sp>
      <p:sp>
        <p:nvSpPr>
          <p:cNvPr id="14" name="card226"/>
          <p:cNvSpPr/>
          <p:nvPr/>
        </p:nvSpPr>
        <p:spPr>
          <a:xfrm>
            <a:off x="4270248" y="2862072"/>
            <a:ext cx="352044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txt227"/>
          <p:cNvSpPr txBox="1"/>
          <p:nvPr/>
        </p:nvSpPr>
        <p:spPr>
          <a:xfrm>
            <a:off x="4498848" y="29718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 / 10</a:t>
            </a:r>
            <a:endParaRPr lang="en-US" sz="3200" dirty="0"/>
          </a:p>
        </p:txBody>
      </p:sp>
      <p:sp>
        <p:nvSpPr>
          <p:cNvPr id="16" name="txt228"/>
          <p:cNvSpPr txBox="1"/>
          <p:nvPr/>
        </p:nvSpPr>
        <p:spPr>
          <a:xfrm>
            <a:off x="4498848" y="35478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Pruebas de seguridad complementarias con resultado inseguro</a:t>
            </a:r>
            <a:endParaRPr lang="en-US" sz="1300" dirty="0"/>
          </a:p>
        </p:txBody>
      </p:sp>
      <p:sp>
        <p:nvSpPr>
          <p:cNvPr id="17" name="card229"/>
          <p:cNvSpPr/>
          <p:nvPr/>
        </p:nvSpPr>
        <p:spPr>
          <a:xfrm>
            <a:off x="548640" y="4306824"/>
            <a:ext cx="352044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" name="txt230"/>
          <p:cNvSpPr txBox="1"/>
          <p:nvPr/>
        </p:nvSpPr>
        <p:spPr>
          <a:xfrm>
            <a:off x="777240" y="441655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14</a:t>
            </a:r>
            <a:endParaRPr lang="en-US" sz="3200" dirty="0"/>
          </a:p>
        </p:txBody>
      </p:sp>
      <p:sp>
        <p:nvSpPr>
          <p:cNvPr id="19" name="txt231"/>
          <p:cNvSpPr txBox="1"/>
          <p:nvPr/>
        </p:nvSpPr>
        <p:spPr>
          <a:xfrm>
            <a:off x="777240" y="499262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Issues ESLint · SonarQube: 1 BLOCKER + 4 hotspots + 198 code smells</a:t>
            </a:r>
            <a:endParaRPr lang="en-US" sz="1300" dirty="0"/>
          </a:p>
        </p:txBody>
      </p:sp>
      <p:sp>
        <p:nvSpPr>
          <p:cNvPr id="20" name="card232"/>
          <p:cNvSpPr/>
          <p:nvPr/>
        </p:nvSpPr>
        <p:spPr>
          <a:xfrm>
            <a:off x="4270248" y="4306824"/>
            <a:ext cx="3520440" cy="128016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" name="txt233"/>
          <p:cNvSpPr txBox="1"/>
          <p:nvPr/>
        </p:nvSpPr>
        <p:spPr>
          <a:xfrm>
            <a:off x="4498848" y="441655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4,011 s</a:t>
            </a:r>
            <a:endParaRPr lang="en-US" sz="3200" dirty="0"/>
          </a:p>
        </p:txBody>
      </p:sp>
      <p:sp>
        <p:nvSpPr>
          <p:cNvPr id="22" name="txt234"/>
          <p:cNvSpPr txBox="1"/>
          <p:nvPr/>
        </p:nvSpPr>
        <p:spPr>
          <a:xfrm>
            <a:off x="4498848" y="499262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Promedio de 5 mediciones de GET /clientes (latencia artificial)</a:t>
            </a:r>
            <a:endParaRPr lang="en-US" sz="1300" dirty="0"/>
          </a:p>
        </p:txBody>
      </p:sp>
      <p:sp>
        <p:nvSpPr>
          <p:cNvPr id="23" name="card235"/>
          <p:cNvSpPr/>
          <p:nvPr/>
        </p:nvSpPr>
        <p:spPr>
          <a:xfrm>
            <a:off x="8046720" y="1417320"/>
            <a:ext cx="3593592" cy="4151376"/>
          </a:xfrm>
          <a:prstGeom prst="roundRect">
            <a:avLst>
              <a:gd name="adj" fmla="val 3053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graphicFrame>
        <p:nvGraphicFramePr>
          <p:cNvPr id="24" name="Chart 0" descr=""/>
          <p:cNvGraphicFramePr/>
          <p:nvPr/>
        </p:nvGraphicFramePr>
        <p:xfrm>
          <a:off x="8183880" y="1508760"/>
          <a:ext cx="33375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card236"/>
          <p:cNvSpPr/>
          <p:nvPr/>
        </p:nvSpPr>
        <p:spPr>
          <a:xfrm>
            <a:off x="548640" y="5760720"/>
            <a:ext cx="11091672" cy="54864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26" name="txt237"/>
          <p:cNvSpPr txBox="1"/>
          <p:nvPr/>
        </p:nvSpPr>
        <p:spPr>
          <a:xfrm>
            <a:off x="822960" y="5760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Resultado global: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78,6% de éxito, con 2 fallos de seguridad CRITICO y 1 de rendimiento que bloquean la certificación.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xt238"/>
          <p:cNvSpPr txBox="1"/>
          <p:nvPr/>
        </p:nvSpPr>
        <p:spPr>
          <a:xfrm>
            <a:off x="548640" y="301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5"/>
                </a:solidFill>
              </a:rPr>
              <a:t>EJECUCIÓN DE PRUEBAS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Casos representativos</a:t>
            </a:r>
            <a:endParaRPr lang="en-US" sz="3000" dirty="0"/>
          </a:p>
        </p:txBody>
      </p:sp>
      <p:graphicFrame>
        <p:nvGraphicFramePr>
          <p:cNvPr id="9" name="tabla cas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120640"/>
                <a:gridCol w="2743200"/>
                <a:gridCol w="194767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Caso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Descripción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Resultado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Severidad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CP-001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Login con credenciales válidas → emite JWT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Aprobado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CP-010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Adjuntar documento con archivo .exe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FALLÓ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CRITICO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CP-011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GET /contratos/1 sin token (IDOR)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FALLÓ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CRITICO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CP-012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Login con SQLi admin' OR '1'='1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Aprobado (401)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SEG-07b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Upload .exe / .html aceptado por multer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Inseguro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CRITICO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SEG-12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CORS Open (Allow-Origin: *)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Inseguro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97316"/>
                          </a:solidFill>
                        </a:rPr>
                        <a:t>●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GRAVE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CP-013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Tiempo de respuesta GET /clientes (5 mediciones)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4,011 s prom. (umbral 300 ms)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B308"/>
                          </a:solidFill>
                        </a:rPr>
                        <a:t>● GRAVE</a:t>
                      </a:r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CP-014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Usabilidad y accesibilidad del login (Lighthouse)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Aprobado con observaciones (0,96)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AB308"/>
                          </a:solidFill>
                        </a:rPr>
                        <a:t>● MODERADO</a:t>
                      </a:r>
                      <a:pPr indent="0" marL="0">
                        <a:buNone/>
                      </a:pP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xt239"/>
          <p:cNvSpPr txBox="1"/>
          <p:nvPr/>
        </p:nvSpPr>
        <p:spPr>
          <a:xfrm>
            <a:off x="548640" y="301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5"/>
                </a:solidFill>
              </a:rPr>
              <a:t>DEMOSTRACIÓN EN VIDEO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Explotación IDOR en Swagger UI</a:t>
            </a:r>
            <a:endParaRPr lang="en-US" sz="3000" dirty="0"/>
          </a:p>
        </p:txBody>
      </p:sp>
      <p:sp>
        <p:nvSpPr>
          <p:cNvPr id="5" name="card240"/>
          <p:cNvSpPr/>
          <p:nvPr/>
        </p:nvSpPr>
        <p:spPr>
          <a:xfrm>
            <a:off x="548640" y="1417320"/>
            <a:ext cx="6035040" cy="4695064"/>
          </a:xfrm>
          <a:prstGeom prst="roundRect">
            <a:avLst>
              <a:gd name="adj" fmla="val 2337"/>
            </a:avLst>
          </a:prstGeom>
          <a:solidFill>
            <a:schemeClr val="tx1"/>
          </a:solidFill>
          <a:ln/>
        </p:spPr>
      </p:sp>
      <p:pic>
        <p:nvPicPr>
          <p:cNvPr id="3" name="video demo 1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731520" y="1554480"/>
            <a:ext cx="5669280" cy="4420744"/>
          </a:xfrm>
          <a:prstGeom prst="rect">
            <a:avLst/>
          </a:prstGeom>
        </p:spPr>
      </p:pic>
      <p:sp>
        <p:nvSpPr>
          <p:cNvPr id="7" name="card241"/>
          <p:cNvSpPr/>
          <p:nvPr/>
        </p:nvSpPr>
        <p:spPr>
          <a:xfrm>
            <a:off x="10058400" y="347472"/>
            <a:ext cx="1581912" cy="274320"/>
          </a:xfrm>
          <a:prstGeom prst="roundRect">
            <a:avLst>
              <a:gd name="adj" fmla="val 40000"/>
            </a:avLst>
          </a:prstGeom>
          <a:solidFill>
            <a:schemeClr val="tx1"/>
          </a:solidFill>
          <a:ln/>
        </p:spPr>
      </p:sp>
      <p:sp>
        <p:nvSpPr>
          <p:cNvPr id="8" name="txt242"/>
          <p:cNvSpPr txBox="1"/>
          <p:nvPr/>
        </p:nvSpPr>
        <p:spPr>
          <a:xfrm>
            <a:off x="10058400" y="347472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▶ VIDEO · 18 s</a:t>
            </a:r>
            <a:endParaRPr lang="en-US" sz="1100" dirty="0"/>
          </a:p>
        </p:txBody>
      </p:sp>
      <p:sp>
        <p:nvSpPr>
          <p:cNvPr id="9" name="card243"/>
          <p:cNvSpPr/>
          <p:nvPr/>
        </p:nvSpPr>
        <p:spPr>
          <a:xfrm>
            <a:off x="6446520" y="1417320"/>
            <a:ext cx="5193792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</p:sp>
      <p:sp>
        <p:nvSpPr>
          <p:cNvPr id="10" name="num244"/>
          <p:cNvSpPr/>
          <p:nvPr/>
        </p:nvSpPr>
        <p:spPr>
          <a:xfrm>
            <a:off x="6629400" y="160020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1" name="txt245"/>
          <p:cNvSpPr txBox="1"/>
          <p:nvPr/>
        </p:nvSpPr>
        <p:spPr>
          <a:xfrm>
            <a:off x="66294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xt246"/>
          <p:cNvSpPr txBox="1"/>
          <p:nvPr/>
        </p:nvSpPr>
        <p:spPr>
          <a:xfrm>
            <a:off x="7269480" y="1490472"/>
            <a:ext cx="418795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Ausencia de candado de seguridad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 diferencia de /estados y /dashboard, la ruta GET /contratos/{id} no tiene candado en OpenAPI, evidenciando falta de diseño seguro.</a:t>
            </a:r>
            <a:endParaRPr lang="en-US" sz="1400" dirty="0"/>
          </a:p>
        </p:txBody>
      </p:sp>
      <p:sp>
        <p:nvSpPr>
          <p:cNvPr id="13" name="card247"/>
          <p:cNvSpPr/>
          <p:nvPr/>
        </p:nvSpPr>
        <p:spPr>
          <a:xfrm>
            <a:off x="6446520" y="2642616"/>
            <a:ext cx="5193792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</p:sp>
      <p:sp>
        <p:nvSpPr>
          <p:cNvPr id="14" name="num248"/>
          <p:cNvSpPr/>
          <p:nvPr/>
        </p:nvSpPr>
        <p:spPr>
          <a:xfrm>
            <a:off x="6629400" y="2825496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5" name="txt249"/>
          <p:cNvSpPr txBox="1"/>
          <p:nvPr/>
        </p:nvSpPr>
        <p:spPr>
          <a:xfrm>
            <a:off x="662940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6" name="txt250"/>
          <p:cNvSpPr txBox="1"/>
          <p:nvPr/>
        </p:nvSpPr>
        <p:spPr>
          <a:xfrm>
            <a:off x="7269480" y="2715768"/>
            <a:ext cx="418795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Consulta anónima sin token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 ingresa id: 1 y se presiona 'Execute' sin autenticar ni ingresar credenciales.</a:t>
            </a:r>
            <a:endParaRPr lang="en-US" sz="1400" dirty="0"/>
          </a:p>
        </p:txBody>
      </p:sp>
      <p:sp>
        <p:nvSpPr>
          <p:cNvPr id="17" name="card251"/>
          <p:cNvSpPr/>
          <p:nvPr/>
        </p:nvSpPr>
        <p:spPr>
          <a:xfrm>
            <a:off x="6446520" y="3867912"/>
            <a:ext cx="5193792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</p:sp>
      <p:sp>
        <p:nvSpPr>
          <p:cNvPr id="18" name="num252"/>
          <p:cNvSpPr/>
          <p:nvPr/>
        </p:nvSpPr>
        <p:spPr>
          <a:xfrm>
            <a:off x="6629400" y="405079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9" name="txt253"/>
          <p:cNvSpPr txBox="1"/>
          <p:nvPr/>
        </p:nvSpPr>
        <p:spPr>
          <a:xfrm>
            <a:off x="662940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20" name="txt254"/>
          <p:cNvSpPr txBox="1"/>
          <p:nvPr/>
        </p:nvSpPr>
        <p:spPr>
          <a:xfrm>
            <a:off x="7269480" y="3941064"/>
            <a:ext cx="418795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Fuga de datos (200 OK)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El servidor retorna HTTP 200 OK deserializando el contrato y los datos de Biotec Solutions sin restricciones.</a:t>
            </a:r>
            <a:endParaRPr lang="en-US" sz="1400" dirty="0"/>
          </a:p>
        </p:txBody>
      </p:sp>
      <p:sp>
        <p:nvSpPr>
          <p:cNvPr id="21" name="card255"/>
          <p:cNvSpPr/>
          <p:nvPr/>
        </p:nvSpPr>
        <p:spPr>
          <a:xfrm>
            <a:off x="6446520" y="5093208"/>
            <a:ext cx="5193792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</p:sp>
      <p:sp>
        <p:nvSpPr>
          <p:cNvPr id="22" name="num256"/>
          <p:cNvSpPr/>
          <p:nvPr/>
        </p:nvSpPr>
        <p:spPr>
          <a:xfrm>
            <a:off x="6629400" y="5276088"/>
            <a:ext cx="457200" cy="45720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23" name="txt257"/>
          <p:cNvSpPr txBox="1"/>
          <p:nvPr/>
        </p:nvSpPr>
        <p:spPr>
          <a:xfrm>
            <a:off x="6629400" y="5276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4</a:t>
            </a:r>
            <a:endParaRPr lang="en-US" sz="1500" dirty="0"/>
          </a:p>
        </p:txBody>
      </p:sp>
      <p:sp>
        <p:nvSpPr>
          <p:cNvPr id="24" name="txt258"/>
          <p:cNvSpPr txBox="1"/>
          <p:nvPr/>
        </p:nvSpPr>
        <p:spPr>
          <a:xfrm>
            <a:off x="7269480" y="5166360"/>
            <a:ext cx="418795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Vulnerabilidad confirmada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Broken Access Control (OWASP A01 / IDOR, Defecto BUG-001).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xt259"/>
          <p:cNvSpPr txBox="1"/>
          <p:nvPr/>
        </p:nvSpPr>
        <p:spPr>
          <a:xfrm>
            <a:off x="548640" y="301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5"/>
                </a:solidFill>
              </a:rPr>
              <a:t>DEMOSTRACIÓN EN VIDEO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Subida de archivo y fuga de glosa</a:t>
            </a:r>
            <a:endParaRPr lang="en-US" sz="3000" dirty="0"/>
          </a:p>
        </p:txBody>
      </p:sp>
      <p:sp>
        <p:nvSpPr>
          <p:cNvPr id="5" name="card260"/>
          <p:cNvSpPr/>
          <p:nvPr/>
        </p:nvSpPr>
        <p:spPr>
          <a:xfrm>
            <a:off x="5971032" y="1417320"/>
            <a:ext cx="6035040" cy="4728025"/>
          </a:xfrm>
          <a:prstGeom prst="roundRect">
            <a:avLst>
              <a:gd name="adj" fmla="val 2321"/>
            </a:avLst>
          </a:prstGeom>
          <a:solidFill>
            <a:schemeClr val="tx1"/>
          </a:solidFill>
          <a:ln/>
        </p:spPr>
        <p:txBody>
          <a:bodyPr/>
          <a:p/>
        </p:txBody>
      </p:sp>
      <p:pic>
        <p:nvPicPr>
          <p:cNvPr id="3" name="video demo 2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153912" y="1554480"/>
            <a:ext cx="5669280" cy="4453705"/>
          </a:xfrm>
          <a:prstGeom prst="rect">
            <a:avLst/>
          </a:prstGeom>
        </p:spPr>
      </p:pic>
      <p:sp>
        <p:nvSpPr>
          <p:cNvPr id="7" name="card261"/>
          <p:cNvSpPr/>
          <p:nvPr/>
        </p:nvSpPr>
        <p:spPr>
          <a:xfrm>
            <a:off x="10058400" y="347472"/>
            <a:ext cx="1581912" cy="274320"/>
          </a:xfrm>
          <a:prstGeom prst="roundRect">
            <a:avLst>
              <a:gd name="adj" fmla="val 40000"/>
            </a:avLst>
          </a:prstGeom>
          <a:solidFill>
            <a:schemeClr val="tx1"/>
          </a:solidFill>
          <a:ln/>
        </p:spPr>
        <p:txBody>
          <a:bodyPr/>
          <a:p/>
        </p:txBody>
      </p:sp>
      <p:sp>
        <p:nvSpPr>
          <p:cNvPr id="8" name="txt262"/>
          <p:cNvSpPr txBox="1"/>
          <p:nvPr/>
        </p:nvSpPr>
        <p:spPr>
          <a:xfrm>
            <a:off x="10058400" y="347472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▶ VIDEO · 35 s</a:t>
            </a:r>
            <a:endParaRPr lang="en-US" sz="1100" dirty="0"/>
          </a:p>
        </p:txBody>
      </p:sp>
      <p:sp>
        <p:nvSpPr>
          <p:cNvPr id="9" name="card263"/>
          <p:cNvSpPr/>
          <p:nvPr/>
        </p:nvSpPr>
        <p:spPr>
          <a:xfrm>
            <a:off x="548640" y="1417320"/>
            <a:ext cx="5193792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num264"/>
          <p:cNvSpPr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p/>
        </p:txBody>
      </p:sp>
      <p:sp>
        <p:nvSpPr>
          <p:cNvPr id="11" name="txt265"/>
          <p:cNvSpPr txBox="1"/>
          <p:nvPr/>
        </p:nvSpPr>
        <p:spPr>
          <a:xfrm>
            <a:off x="7315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txt266"/>
          <p:cNvSpPr txBox="1"/>
          <p:nvPr/>
        </p:nvSpPr>
        <p:spPr>
          <a:xfrm>
            <a:off x="1371600" y="1490472"/>
            <a:ext cx="418795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Subida de archivo no permitido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 adjunta 'app.ico' (extensión no permitida por RF-5.2: PDF, DOC, PPT, JPG y PNG) en POST /contratos.</a:t>
            </a:r>
            <a:endParaRPr lang="en-US" sz="1400" dirty="0"/>
          </a:p>
        </p:txBody>
      </p:sp>
      <p:sp>
        <p:nvSpPr>
          <p:cNvPr id="13" name="card267"/>
          <p:cNvSpPr/>
          <p:nvPr/>
        </p:nvSpPr>
        <p:spPr>
          <a:xfrm>
            <a:off x="548640" y="2642616"/>
            <a:ext cx="5193792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num268"/>
          <p:cNvSpPr/>
          <p:nvPr/>
        </p:nvSpPr>
        <p:spPr>
          <a:xfrm>
            <a:off x="731520" y="2825496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p/>
        </p:txBody>
      </p:sp>
      <p:sp>
        <p:nvSpPr>
          <p:cNvPr id="15" name="txt269"/>
          <p:cNvSpPr txBox="1"/>
          <p:nvPr/>
        </p:nvSpPr>
        <p:spPr>
          <a:xfrm>
            <a:off x="73152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6" name="txt270"/>
          <p:cNvSpPr txBox="1"/>
          <p:nvPr/>
        </p:nvSpPr>
        <p:spPr>
          <a:xfrm>
            <a:off x="1371600" y="2715768"/>
            <a:ext cx="418795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Ausencia de validación MIME (Multer)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Multer procesa el archivo sin filtro 'fileFilter'. No hay respuesta 400 ni 415 de validación (BUG-003).</a:t>
            </a:r>
            <a:endParaRPr lang="en-US" sz="1400" dirty="0"/>
          </a:p>
        </p:txBody>
      </p:sp>
      <p:sp>
        <p:nvSpPr>
          <p:cNvPr id="17" name="card271"/>
          <p:cNvSpPr/>
          <p:nvPr/>
        </p:nvSpPr>
        <p:spPr>
          <a:xfrm>
            <a:off x="548640" y="3867912"/>
            <a:ext cx="5193792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" name="num272"/>
          <p:cNvSpPr/>
          <p:nvPr/>
        </p:nvSpPr>
        <p:spPr>
          <a:xfrm>
            <a:off x="731520" y="4050792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p/>
        </p:txBody>
      </p:sp>
      <p:sp>
        <p:nvSpPr>
          <p:cNvPr id="19" name="txt273"/>
          <p:cNvSpPr txBox="1"/>
          <p:nvPr/>
        </p:nvSpPr>
        <p:spPr>
          <a:xfrm>
            <a:off x="73152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20" name="txt274"/>
          <p:cNvSpPr txBox="1"/>
          <p:nvPr/>
        </p:nvSpPr>
        <p:spPr>
          <a:xfrm>
            <a:off x="1371600" y="3941064"/>
            <a:ext cx="418795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Fuga de glosa interna (Error 500)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Al fallar la auditoría por falta de token, la respuesta 500 revela nombres exactos de tablas y columnas internas de PostgreSQL (BUG-007).</a:t>
            </a:r>
            <a:endParaRPr lang="en-US" sz="1400" dirty="0"/>
          </a:p>
        </p:txBody>
      </p:sp>
      <p:sp>
        <p:nvSpPr>
          <p:cNvPr id="21" name="card275"/>
          <p:cNvSpPr/>
          <p:nvPr/>
        </p:nvSpPr>
        <p:spPr>
          <a:xfrm>
            <a:off x="548640" y="5093208"/>
            <a:ext cx="5193792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num276"/>
          <p:cNvSpPr/>
          <p:nvPr/>
        </p:nvSpPr>
        <p:spPr>
          <a:xfrm>
            <a:off x="731520" y="5276088"/>
            <a:ext cx="457200" cy="45720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p/>
        </p:txBody>
      </p:sp>
      <p:sp>
        <p:nvSpPr>
          <p:cNvPr id="23" name="txt277"/>
          <p:cNvSpPr txBox="1"/>
          <p:nvPr/>
        </p:nvSpPr>
        <p:spPr>
          <a:xfrm>
            <a:off x="731520" y="5276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4</a:t>
            </a:r>
            <a:endParaRPr lang="en-US" sz="1500" dirty="0"/>
          </a:p>
        </p:txBody>
      </p:sp>
      <p:sp>
        <p:nvSpPr>
          <p:cNvPr id="24" name="txt278"/>
          <p:cNvSpPr txBox="1"/>
          <p:nvPr/>
        </p:nvSpPr>
        <p:spPr>
          <a:xfrm>
            <a:off x="1371600" y="5166360"/>
            <a:ext cx="418795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Vulnerabilidades confirmadas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Software and Data Integrity Failures (OWASP A08 / BUG-003) e Information Disclosure (BUG-007).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xt279"/>
          <p:cNvSpPr txBox="1"/>
          <p:nvPr/>
        </p:nvSpPr>
        <p:spPr>
          <a:xfrm>
            <a:off x="548640" y="301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5"/>
                </a:solidFill>
              </a:rPr>
              <a:t>ANÁLISIS ESTÁTICO Y DEFECTOS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Análisis estático: ESLint y SonarQube</a:t>
            </a:r>
            <a:endParaRPr lang="en-US" sz="3000" dirty="0"/>
          </a:p>
        </p:txBody>
      </p:sp>
      <p:sp>
        <p:nvSpPr>
          <p:cNvPr id="5" name="card280"/>
          <p:cNvSpPr/>
          <p:nvPr/>
        </p:nvSpPr>
        <p:spPr>
          <a:xfrm>
            <a:off x="548640" y="1371600"/>
            <a:ext cx="3566160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</p:sp>
      <p:sp>
        <p:nvSpPr>
          <p:cNvPr id="6" name="circle281"/>
          <p:cNvSpPr/>
          <p:nvPr/>
        </p:nvSpPr>
        <p:spPr>
          <a:xfrm>
            <a:off x="777240" y="1600200"/>
            <a:ext cx="566928" cy="566928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7" name="icon28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1741932"/>
            <a:ext cx="283464" cy="283464"/>
          </a:xfrm>
          <a:prstGeom prst="rect">
            <a:avLst/>
          </a:prstGeom>
        </p:spPr>
      </p:pic>
      <p:sp>
        <p:nvSpPr>
          <p:cNvPr id="8" name="txt283"/>
          <p:cNvSpPr txBox="1"/>
          <p:nvPr/>
        </p:nvSpPr>
        <p:spPr>
          <a:xfrm>
            <a:off x="1508760" y="16002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ESLint 9 · 14 issues</a:t>
            </a:r>
            <a:endParaRPr lang="en-US" sz="1500" dirty="0"/>
          </a:p>
        </p:txBody>
      </p:sp>
      <p:sp>
        <p:nvSpPr>
          <p:cNvPr id="9" name="txt284"/>
          <p:cNvSpPr txBox="1"/>
          <p:nvPr/>
        </p:nvSpPr>
        <p:spPr>
          <a:xfrm>
            <a:off x="777240" y="230428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11 frontend + 3 backend: variables/imports sin uso y dependencias de hooks.</a:t>
            </a:r>
            <a:endParaRPr lang="en-US" sz="1300" dirty="0"/>
          </a:p>
        </p:txBody>
      </p:sp>
      <p:sp>
        <p:nvSpPr>
          <p:cNvPr id="10" name="card285"/>
          <p:cNvSpPr/>
          <p:nvPr/>
        </p:nvSpPr>
        <p:spPr>
          <a:xfrm>
            <a:off x="4311396" y="1371600"/>
            <a:ext cx="3566160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</p:sp>
      <p:sp>
        <p:nvSpPr>
          <p:cNvPr id="11" name="circle286"/>
          <p:cNvSpPr/>
          <p:nvPr/>
        </p:nvSpPr>
        <p:spPr>
          <a:xfrm>
            <a:off x="4539996" y="16002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28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1741932"/>
            <a:ext cx="283464" cy="283464"/>
          </a:xfrm>
          <a:prstGeom prst="rect">
            <a:avLst/>
          </a:prstGeom>
        </p:spPr>
      </p:pic>
      <p:sp>
        <p:nvSpPr>
          <p:cNvPr id="13" name="txt288"/>
          <p:cNvSpPr txBox="1"/>
          <p:nvPr/>
        </p:nvSpPr>
        <p:spPr>
          <a:xfrm>
            <a:off x="5271516" y="16002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SonarQube · Backend (atlas)</a:t>
            </a:r>
            <a:endParaRPr lang="en-US" sz="1500" dirty="0"/>
          </a:p>
        </p:txBody>
      </p:sp>
      <p:sp>
        <p:nvSpPr>
          <p:cNvPr id="14" name="txt289"/>
          <p:cNvSpPr txBox="1"/>
          <p:nvPr/>
        </p:nvSpPr>
        <p:spPr>
          <a:xfrm>
            <a:off x="4539996" y="230428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1 vulnerabilidad BLOCKER (secrets:S6698 en db.js:6), 4 security hotspots, 17 code smells, Security Rating E.</a:t>
            </a:r>
            <a:endParaRPr lang="en-US" sz="1300" dirty="0"/>
          </a:p>
        </p:txBody>
      </p:sp>
      <p:sp>
        <p:nvSpPr>
          <p:cNvPr id="15" name="card290"/>
          <p:cNvSpPr/>
          <p:nvPr/>
        </p:nvSpPr>
        <p:spPr>
          <a:xfrm>
            <a:off x="8074152" y="1371600"/>
            <a:ext cx="3566160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</p:sp>
      <p:sp>
        <p:nvSpPr>
          <p:cNvPr id="16" name="circle291"/>
          <p:cNvSpPr/>
          <p:nvPr/>
        </p:nvSpPr>
        <p:spPr>
          <a:xfrm>
            <a:off x="8302752" y="1600200"/>
            <a:ext cx="566928" cy="566928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7" name="icon29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4484" y="1741932"/>
            <a:ext cx="283464" cy="283464"/>
          </a:xfrm>
          <a:prstGeom prst="rect">
            <a:avLst/>
          </a:prstGeom>
        </p:spPr>
      </p:pic>
      <p:sp>
        <p:nvSpPr>
          <p:cNvPr id="18" name="txt293"/>
          <p:cNvSpPr txBox="1"/>
          <p:nvPr/>
        </p:nvSpPr>
        <p:spPr>
          <a:xfrm>
            <a:off x="9034272" y="16002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SonarQube · Frontend</a:t>
            </a:r>
            <a:endParaRPr lang="en-US" sz="1500" dirty="0"/>
          </a:p>
        </p:txBody>
      </p:sp>
      <p:sp>
        <p:nvSpPr>
          <p:cNvPr id="19" name="txt294"/>
          <p:cNvSpPr txBox="1"/>
          <p:nvPr/>
        </p:nvSpPr>
        <p:spPr>
          <a:xfrm>
            <a:off x="8302752" y="230428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1 bug, 181 code smells, complejidad cognitiva CRITICAL (S3776) y APIs deprecadas (S1874).</a:t>
            </a:r>
            <a:endParaRPr lang="en-US" sz="1300" dirty="0"/>
          </a:p>
        </p:txBody>
      </p:sp>
      <p:sp>
        <p:nvSpPr>
          <p:cNvPr id="20" name="card295"/>
          <p:cNvSpPr/>
          <p:nvPr/>
        </p:nvSpPr>
        <p:spPr>
          <a:xfrm>
            <a:off x="548640" y="3337560"/>
            <a:ext cx="11091672" cy="54864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/>
        </p:spPr>
      </p:sp>
      <p:sp>
        <p:nvSpPr>
          <p:cNvPr id="21" name="txt296"/>
          <p:cNvSpPr txBox="1"/>
          <p:nvPr/>
        </p:nvSpPr>
        <p:spPr>
          <a:xfrm>
            <a:off x="822960" y="33375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Los hotspots confirman exactamente los defectos BUG-003 (upload) y BUG-005 (CORS) hallados en pruebas dinámicas.</a:t>
            </a:r>
            <a:endParaRPr lang="en-US" sz="1500" dirty="0"/>
          </a:p>
        </p:txBody>
      </p:sp>
      <p:sp>
        <p:nvSpPr>
          <p:cNvPr id="22" name="card297"/>
          <p:cNvSpPr/>
          <p:nvPr/>
        </p:nvSpPr>
        <p:spPr>
          <a:xfrm>
            <a:off x="548640" y="4023360"/>
            <a:ext cx="3511296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</p:sp>
      <p:pic>
        <p:nvPicPr>
          <p:cNvPr id="23" name="captura Dashboard backend" descr="/home/claude/orig/ppt/media/image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4078224"/>
            <a:ext cx="3401568" cy="2125980"/>
          </a:xfrm>
          <a:prstGeom prst="rect">
            <a:avLst/>
          </a:prstGeom>
        </p:spPr>
      </p:pic>
      <p:sp>
        <p:nvSpPr>
          <p:cNvPr id="24" name="card298"/>
          <p:cNvSpPr/>
          <p:nvPr/>
        </p:nvSpPr>
        <p:spPr>
          <a:xfrm>
            <a:off x="685800" y="5907024"/>
            <a:ext cx="1595628" cy="274320"/>
          </a:xfrm>
          <a:prstGeom prst="roundRect">
            <a:avLst>
              <a:gd name="adj" fmla="val 40000"/>
            </a:avLst>
          </a:prstGeom>
          <a:solidFill>
            <a:schemeClr val="tx1"/>
          </a:solidFill>
          <a:ln/>
        </p:spPr>
      </p:sp>
      <p:sp>
        <p:nvSpPr>
          <p:cNvPr id="25" name="txt299"/>
          <p:cNvSpPr txBox="1"/>
          <p:nvPr/>
        </p:nvSpPr>
        <p:spPr>
          <a:xfrm>
            <a:off x="685800" y="5907024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Dashboard backend</a:t>
            </a:r>
            <a:endParaRPr lang="en-US" sz="1100" dirty="0"/>
          </a:p>
        </p:txBody>
      </p:sp>
      <p:sp>
        <p:nvSpPr>
          <p:cNvPr id="26" name="card300"/>
          <p:cNvSpPr/>
          <p:nvPr/>
        </p:nvSpPr>
        <p:spPr>
          <a:xfrm>
            <a:off x="4340657" y="4023360"/>
            <a:ext cx="3511296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</p:sp>
      <p:pic>
        <p:nvPicPr>
          <p:cNvPr id="27" name="captura Security hotspots" descr="/home/claude/orig/ppt/media/image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5521" y="4078224"/>
            <a:ext cx="3401568" cy="2125980"/>
          </a:xfrm>
          <a:prstGeom prst="rect">
            <a:avLst/>
          </a:prstGeom>
        </p:spPr>
      </p:pic>
      <p:sp>
        <p:nvSpPr>
          <p:cNvPr id="28" name="card301"/>
          <p:cNvSpPr/>
          <p:nvPr/>
        </p:nvSpPr>
        <p:spPr>
          <a:xfrm>
            <a:off x="4477817" y="5907024"/>
            <a:ext cx="1595628" cy="274320"/>
          </a:xfrm>
          <a:prstGeom prst="roundRect">
            <a:avLst>
              <a:gd name="adj" fmla="val 40000"/>
            </a:avLst>
          </a:prstGeom>
          <a:solidFill>
            <a:schemeClr val="tx1"/>
          </a:solidFill>
          <a:ln/>
        </p:spPr>
      </p:sp>
      <p:sp>
        <p:nvSpPr>
          <p:cNvPr id="29" name="txt302"/>
          <p:cNvSpPr txBox="1"/>
          <p:nvPr/>
        </p:nvSpPr>
        <p:spPr>
          <a:xfrm>
            <a:off x="4477817" y="5907024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Security hotspots</a:t>
            </a:r>
            <a:endParaRPr lang="en-US" sz="1100" dirty="0"/>
          </a:p>
        </p:txBody>
      </p:sp>
      <p:sp>
        <p:nvSpPr>
          <p:cNvPr id="30" name="card303"/>
          <p:cNvSpPr/>
          <p:nvPr/>
        </p:nvSpPr>
        <p:spPr>
          <a:xfrm>
            <a:off x="8132674" y="4023360"/>
            <a:ext cx="3511296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</p:sp>
      <p:pic>
        <p:nvPicPr>
          <p:cNvPr id="31" name="captura Issues: vulnerabilidad DB" descr="/home/claude/orig/ppt/media/image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7538" y="4078224"/>
            <a:ext cx="3401568" cy="2125980"/>
          </a:xfrm>
          <a:prstGeom prst="rect">
            <a:avLst/>
          </a:prstGeom>
        </p:spPr>
      </p:pic>
      <p:sp>
        <p:nvSpPr>
          <p:cNvPr id="32" name="card304"/>
          <p:cNvSpPr/>
          <p:nvPr/>
        </p:nvSpPr>
        <p:spPr>
          <a:xfrm>
            <a:off x="8269834" y="5907024"/>
            <a:ext cx="2217420" cy="274320"/>
          </a:xfrm>
          <a:prstGeom prst="roundRect">
            <a:avLst>
              <a:gd name="adj" fmla="val 40000"/>
            </a:avLst>
          </a:prstGeom>
          <a:solidFill>
            <a:schemeClr val="tx1"/>
          </a:solidFill>
          <a:ln/>
        </p:spPr>
      </p:sp>
      <p:sp>
        <p:nvSpPr>
          <p:cNvPr id="33" name="txt305"/>
          <p:cNvSpPr txBox="1"/>
          <p:nvPr/>
        </p:nvSpPr>
        <p:spPr>
          <a:xfrm>
            <a:off x="8269834" y="5907024"/>
            <a:ext cx="22174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Issues: vulnerabilidad DB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xt306"/>
          <p:cNvSpPr txBox="1"/>
          <p:nvPr/>
        </p:nvSpPr>
        <p:spPr>
          <a:xfrm>
            <a:off x="548640" y="301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5"/>
                </a:solidFill>
              </a:rPr>
              <a:t>ANÁLISIS ESTÁTICO Y DEFECTOS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Clasificación de los defectos</a:t>
            </a:r>
            <a:endParaRPr lang="en-US" sz="3000" dirty="0"/>
          </a:p>
        </p:txBody>
      </p:sp>
      <p:sp>
        <p:nvSpPr>
          <p:cNvPr id="5" name="card307"/>
          <p:cNvSpPr/>
          <p:nvPr/>
        </p:nvSpPr>
        <p:spPr>
          <a:xfrm>
            <a:off x="548640" y="1371600"/>
            <a:ext cx="2697480" cy="4389120"/>
          </a:xfrm>
          <a:prstGeom prst="roundRect">
            <a:avLst>
              <a:gd name="adj" fmla="val 406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head308"/>
          <p:cNvSpPr/>
          <p:nvPr/>
        </p:nvSpPr>
        <p:spPr>
          <a:xfrm>
            <a:off x="548640" y="1371600"/>
            <a:ext cx="2697480" cy="1234440"/>
          </a:xfrm>
          <a:prstGeom prst="round2SameRect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7" name="txt309"/>
          <p:cNvSpPr txBox="1"/>
          <p:nvPr/>
        </p:nvSpPr>
        <p:spPr>
          <a:xfrm>
            <a:off x="777240" y="14813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bg1"/>
                </a:solidFill>
              </a:rPr>
              <a:t>CRITICO</a:t>
            </a:r>
            <a:endParaRPr lang="en-US" sz="1300" dirty="0"/>
          </a:p>
        </p:txBody>
      </p:sp>
      <p:sp>
        <p:nvSpPr>
          <p:cNvPr id="8" name="txt310"/>
          <p:cNvSpPr txBox="1"/>
          <p:nvPr/>
        </p:nvSpPr>
        <p:spPr>
          <a:xfrm>
            <a:off x="777240" y="17373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4800" dirty="0"/>
          </a:p>
        </p:txBody>
      </p:sp>
      <p:sp>
        <p:nvSpPr>
          <p:cNvPr id="9" name="txt311"/>
          <p:cNvSpPr txBox="1"/>
          <p:nvPr/>
        </p:nvSpPr>
        <p:spPr>
          <a:xfrm>
            <a:off x="777240" y="27432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Impide operar o expone datos sensibles; no certificable</a:t>
            </a:r>
            <a:endParaRPr lang="en-US" sz="1300" dirty="0"/>
          </a:p>
        </p:txBody>
      </p:sp>
      <p:sp>
        <p:nvSpPr>
          <p:cNvPr id="10" name="txt312"/>
          <p:cNvSpPr txBox="1"/>
          <p:nvPr/>
        </p:nvSpPr>
        <p:spPr>
          <a:xfrm>
            <a:off x="777240" y="352044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EJEMPLOS</a:t>
            </a:r>
            <a:endParaRPr lang="en-US" sz="1000" dirty="0"/>
          </a:p>
        </p:txBody>
      </p:sp>
      <p:sp>
        <p:nvSpPr>
          <p:cNvPr id="11" name="txt313"/>
          <p:cNvSpPr txBox="1"/>
          <p:nvPr/>
        </p:nvSpPr>
        <p:spPr>
          <a:xfrm>
            <a:off x="777240" y="374904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BUG-001 IDOR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BUG-002 credenciales texto claro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BUG-003 upload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BUG-011 secreto en código</a:t>
            </a:r>
            <a:endParaRPr lang="en-US" sz="1200" dirty="0"/>
          </a:p>
        </p:txBody>
      </p:sp>
      <p:sp>
        <p:nvSpPr>
          <p:cNvPr id="12" name="card314"/>
          <p:cNvSpPr/>
          <p:nvPr/>
        </p:nvSpPr>
        <p:spPr>
          <a:xfrm>
            <a:off x="3371393" y="1371600"/>
            <a:ext cx="2697480" cy="4389120"/>
          </a:xfrm>
          <a:prstGeom prst="roundRect">
            <a:avLst>
              <a:gd name="adj" fmla="val 406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head315"/>
          <p:cNvSpPr/>
          <p:nvPr/>
        </p:nvSpPr>
        <p:spPr>
          <a:xfrm>
            <a:off x="3371393" y="1371600"/>
            <a:ext cx="2697480" cy="1234440"/>
          </a:xfrm>
          <a:prstGeom prst="round2SameRect">
            <a:avLst/>
          </a:prstGeom>
          <a:solidFill>
            <a:schemeClr val="accent2"/>
          </a:solidFill>
          <a:ln/>
        </p:spPr>
        <p:txBody>
          <a:bodyPr/>
          <a:p/>
        </p:txBody>
      </p:sp>
      <p:sp>
        <p:nvSpPr>
          <p:cNvPr id="14" name="txt316"/>
          <p:cNvSpPr txBox="1"/>
          <p:nvPr/>
        </p:nvSpPr>
        <p:spPr>
          <a:xfrm>
            <a:off x="3599993" y="14813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tx1"/>
                </a:solidFill>
              </a:rPr>
              <a:t>GRAVE</a:t>
            </a:r>
            <a:endParaRPr lang="en-US" sz="1300" dirty="0"/>
          </a:p>
        </p:txBody>
      </p:sp>
      <p:sp>
        <p:nvSpPr>
          <p:cNvPr id="15" name="txt317"/>
          <p:cNvSpPr txBox="1"/>
          <p:nvPr/>
        </p:nvSpPr>
        <p:spPr>
          <a:xfrm>
            <a:off x="3599993" y="17373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</a:t>
            </a:r>
            <a:endParaRPr lang="en-US" sz="4800" dirty="0"/>
          </a:p>
        </p:txBody>
      </p:sp>
      <p:sp>
        <p:nvSpPr>
          <p:cNvPr id="16" name="txt318"/>
          <p:cNvSpPr txBox="1"/>
          <p:nvPr/>
        </p:nvSpPr>
        <p:spPr>
          <a:xfrm>
            <a:off x="3599993" y="27432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Afecta funciones importantes o la superficie de ataque</a:t>
            </a:r>
            <a:endParaRPr lang="en-US" sz="1300" dirty="0"/>
          </a:p>
        </p:txBody>
      </p:sp>
      <p:sp>
        <p:nvSpPr>
          <p:cNvPr id="17" name="txt319"/>
          <p:cNvSpPr txBox="1"/>
          <p:nvPr/>
        </p:nvSpPr>
        <p:spPr>
          <a:xfrm>
            <a:off x="3599993" y="352044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EJEMPLOS</a:t>
            </a:r>
            <a:endParaRPr lang="en-US" sz="1000" dirty="0"/>
          </a:p>
        </p:txBody>
      </p:sp>
      <p:sp>
        <p:nvSpPr>
          <p:cNvPr id="18" name="txt320"/>
          <p:cNvSpPr txBox="1"/>
          <p:nvPr/>
        </p:nvSpPr>
        <p:spPr>
          <a:xfrm>
            <a:off x="3599993" y="374904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JWT_SECRET "inseguro"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CORS *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sin rate-limit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errores 500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localStorage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BUG-010 latencia 4 s</a:t>
            </a:r>
            <a:endParaRPr lang="en-US" sz="1200" dirty="0"/>
          </a:p>
        </p:txBody>
      </p:sp>
      <p:sp>
        <p:nvSpPr>
          <p:cNvPr id="19" name="card321"/>
          <p:cNvSpPr/>
          <p:nvPr/>
        </p:nvSpPr>
        <p:spPr>
          <a:xfrm>
            <a:off x="6194146" y="1371600"/>
            <a:ext cx="2697480" cy="4389120"/>
          </a:xfrm>
          <a:prstGeom prst="roundRect">
            <a:avLst>
              <a:gd name="adj" fmla="val 406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0" name="head322"/>
          <p:cNvSpPr/>
          <p:nvPr/>
        </p:nvSpPr>
        <p:spPr>
          <a:xfrm>
            <a:off x="6194146" y="1371600"/>
            <a:ext cx="2697480" cy="1234440"/>
          </a:xfrm>
          <a:prstGeom prst="round2SameRect">
            <a:avLst/>
          </a:prstGeom>
          <a:solidFill>
            <a:schemeClr val="accent6"/>
          </a:solidFill>
          <a:ln/>
        </p:spPr>
        <p:txBody>
          <a:bodyPr/>
          <a:p/>
        </p:txBody>
      </p:sp>
      <p:sp>
        <p:nvSpPr>
          <p:cNvPr id="21" name="txt323"/>
          <p:cNvSpPr txBox="1"/>
          <p:nvPr/>
        </p:nvSpPr>
        <p:spPr>
          <a:xfrm>
            <a:off x="6422746" y="14813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tx1"/>
                </a:solidFill>
              </a:rPr>
              <a:t>MODERADO</a:t>
            </a:r>
            <a:endParaRPr lang="en-US" sz="1300" dirty="0"/>
          </a:p>
        </p:txBody>
      </p:sp>
      <p:sp>
        <p:nvSpPr>
          <p:cNvPr id="22" name="txt324"/>
          <p:cNvSpPr txBox="1"/>
          <p:nvPr/>
        </p:nvSpPr>
        <p:spPr>
          <a:xfrm>
            <a:off x="6422746" y="17373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4800" dirty="0"/>
          </a:p>
        </p:txBody>
      </p:sp>
      <p:sp>
        <p:nvSpPr>
          <p:cNvPr id="23" name="txt325"/>
          <p:cNvSpPr txBox="1"/>
          <p:nvPr/>
        </p:nvSpPr>
        <p:spPr>
          <a:xfrm>
            <a:off x="6422746" y="27432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Afecta funciones secundarias sin detener el flujo</a:t>
            </a:r>
            <a:endParaRPr lang="en-US" sz="1300" dirty="0"/>
          </a:p>
        </p:txBody>
      </p:sp>
      <p:sp>
        <p:nvSpPr>
          <p:cNvPr id="24" name="txt326"/>
          <p:cNvSpPr txBox="1"/>
          <p:nvPr/>
        </p:nvSpPr>
        <p:spPr>
          <a:xfrm>
            <a:off x="6422746" y="352044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EJEMPLOS</a:t>
            </a:r>
            <a:endParaRPr lang="en-US" sz="1000" dirty="0"/>
          </a:p>
        </p:txBody>
      </p:sp>
      <p:sp>
        <p:nvSpPr>
          <p:cNvPr id="25" name="txt327"/>
          <p:cNvSpPr txBox="1"/>
          <p:nvPr/>
        </p:nvSpPr>
        <p:spPr>
          <a:xfrm>
            <a:off x="6422746" y="374904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BUG-012 contraste e idioma</a:t>
            </a:r>
            <a:endParaRPr lang="en-US" sz="1200" dirty="0"/>
          </a:p>
        </p:txBody>
      </p:sp>
      <p:sp>
        <p:nvSpPr>
          <p:cNvPr id="26" name="card328"/>
          <p:cNvSpPr/>
          <p:nvPr/>
        </p:nvSpPr>
        <p:spPr>
          <a:xfrm>
            <a:off x="9016898" y="1371600"/>
            <a:ext cx="2697480" cy="4389120"/>
          </a:xfrm>
          <a:prstGeom prst="roundRect">
            <a:avLst>
              <a:gd name="adj" fmla="val 406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head329"/>
          <p:cNvSpPr/>
          <p:nvPr/>
        </p:nvSpPr>
        <p:spPr>
          <a:xfrm>
            <a:off x="9016898" y="1371600"/>
            <a:ext cx="2697480" cy="1234440"/>
          </a:xfrm>
          <a:prstGeom prst="round2SameRect">
            <a:avLst/>
          </a:prstGeom>
          <a:solidFill>
            <a:schemeClr val="accent4"/>
          </a:solidFill>
          <a:ln/>
        </p:spPr>
        <p:txBody>
          <a:bodyPr/>
          <a:p/>
        </p:txBody>
      </p:sp>
      <p:sp>
        <p:nvSpPr>
          <p:cNvPr id="28" name="txt330"/>
          <p:cNvSpPr txBox="1"/>
          <p:nvPr/>
        </p:nvSpPr>
        <p:spPr>
          <a:xfrm>
            <a:off x="9245498" y="148132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tx1"/>
                </a:solidFill>
              </a:rPr>
              <a:t>LEVE</a:t>
            </a:r>
            <a:endParaRPr lang="en-US" sz="1300" dirty="0"/>
          </a:p>
        </p:txBody>
      </p:sp>
      <p:sp>
        <p:nvSpPr>
          <p:cNvPr id="29" name="txt331"/>
          <p:cNvSpPr txBox="1"/>
          <p:nvPr/>
        </p:nvSpPr>
        <p:spPr>
          <a:xfrm>
            <a:off x="9245498" y="173736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4800" dirty="0"/>
          </a:p>
        </p:txBody>
      </p:sp>
      <p:sp>
        <p:nvSpPr>
          <p:cNvPr id="30" name="txt332"/>
          <p:cNvSpPr txBox="1"/>
          <p:nvPr/>
        </p:nvSpPr>
        <p:spPr>
          <a:xfrm>
            <a:off x="9245498" y="27432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Apariencia o código sin impacto funcional</a:t>
            </a:r>
            <a:endParaRPr lang="en-US" sz="1300" dirty="0"/>
          </a:p>
        </p:txBody>
      </p:sp>
      <p:sp>
        <p:nvSpPr>
          <p:cNvPr id="31" name="txt333"/>
          <p:cNvSpPr txBox="1"/>
          <p:nvPr/>
        </p:nvSpPr>
        <p:spPr>
          <a:xfrm>
            <a:off x="9245498" y="352044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5"/>
                </a:solidFill>
              </a:rPr>
              <a:t>EJEMPLOS</a:t>
            </a:r>
            <a:endParaRPr lang="en-US" sz="1000" dirty="0"/>
          </a:p>
        </p:txBody>
      </p:sp>
      <p:sp>
        <p:nvSpPr>
          <p:cNvPr id="32" name="txt334"/>
          <p:cNvSpPr txBox="1"/>
          <p:nvPr/>
        </p:nvSpPr>
        <p:spPr>
          <a:xfrm>
            <a:off x="9245498" y="374904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BUG-009 code smells ESLint</a:t>
            </a:r>
            <a:endParaRPr lang="en-US" sz="1200" dirty="0"/>
          </a:p>
        </p:txBody>
      </p:sp>
      <p:sp>
        <p:nvSpPr>
          <p:cNvPr id="33" name="card335"/>
          <p:cNvSpPr/>
          <p:nvPr/>
        </p:nvSpPr>
        <p:spPr>
          <a:xfrm>
            <a:off x="548640" y="5852160"/>
            <a:ext cx="11091672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/>
        </p:spPr>
        <p:txBody>
          <a:bodyPr/>
          <a:p/>
        </p:txBody>
      </p:sp>
      <p:sp>
        <p:nvSpPr>
          <p:cNvPr id="34" name="txt336"/>
          <p:cNvSpPr txBox="1"/>
          <p:nvPr/>
        </p:nvSpPr>
        <p:spPr>
          <a:xfrm>
            <a:off x="822960" y="58521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Regla: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un software con defectos CRITICO abiertos nunca debe ser certificado.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xt337"/>
          <p:cNvSpPr txBox="1"/>
          <p:nvPr/>
        </p:nvSpPr>
        <p:spPr>
          <a:xfrm>
            <a:off x="548640" y="301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5"/>
                </a:solidFill>
              </a:rPr>
              <a:t>ANÁLISIS ESTÁTICO Y DEFECTOS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Evidencias (SonarQube)</a:t>
            </a:r>
            <a:endParaRPr lang="en-US" sz="3000" dirty="0"/>
          </a:p>
        </p:txBody>
      </p:sp>
      <p:sp>
        <p:nvSpPr>
          <p:cNvPr id="5" name="card338"/>
          <p:cNvSpPr/>
          <p:nvPr/>
        </p:nvSpPr>
        <p:spPr>
          <a:xfrm>
            <a:off x="548640" y="1371600"/>
            <a:ext cx="3511296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</p:sp>
      <p:pic>
        <p:nvPicPr>
          <p:cNvPr id="6" name="captura Dashboard frontend" descr="/home/claude/orig/ppt/media/imag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426464"/>
            <a:ext cx="3401568" cy="2125980"/>
          </a:xfrm>
          <a:prstGeom prst="rect">
            <a:avLst/>
          </a:prstGeom>
        </p:spPr>
      </p:pic>
      <p:sp>
        <p:nvSpPr>
          <p:cNvPr id="7" name="card339"/>
          <p:cNvSpPr/>
          <p:nvPr/>
        </p:nvSpPr>
        <p:spPr>
          <a:xfrm>
            <a:off x="731520" y="3200400"/>
            <a:ext cx="1673352" cy="274320"/>
          </a:xfrm>
          <a:prstGeom prst="roundRect">
            <a:avLst>
              <a:gd name="adj" fmla="val 40000"/>
            </a:avLst>
          </a:prstGeom>
          <a:solidFill>
            <a:schemeClr val="tx1"/>
          </a:solidFill>
          <a:ln/>
        </p:spPr>
      </p:sp>
      <p:sp>
        <p:nvSpPr>
          <p:cNvPr id="8" name="txt340"/>
          <p:cNvSpPr txBox="1"/>
          <p:nvPr/>
        </p:nvSpPr>
        <p:spPr>
          <a:xfrm>
            <a:off x="731520" y="320040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Dashboard frontend</a:t>
            </a:r>
            <a:endParaRPr lang="en-US" sz="1100" dirty="0"/>
          </a:p>
        </p:txBody>
      </p:sp>
      <p:sp>
        <p:nvSpPr>
          <p:cNvPr id="9" name="card341"/>
          <p:cNvSpPr/>
          <p:nvPr/>
        </p:nvSpPr>
        <p:spPr>
          <a:xfrm>
            <a:off x="4340657" y="1371600"/>
            <a:ext cx="3511296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</p:sp>
      <p:pic>
        <p:nvPicPr>
          <p:cNvPr id="10" name="captura Issues · code smells backend" descr="/home/claude/orig/ppt/media/image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5521" y="1426464"/>
            <a:ext cx="3401568" cy="2125980"/>
          </a:xfrm>
          <a:prstGeom prst="rect">
            <a:avLst/>
          </a:prstGeom>
        </p:spPr>
      </p:pic>
      <p:sp>
        <p:nvSpPr>
          <p:cNvPr id="11" name="card342"/>
          <p:cNvSpPr/>
          <p:nvPr/>
        </p:nvSpPr>
        <p:spPr>
          <a:xfrm>
            <a:off x="4523537" y="3200400"/>
            <a:ext cx="2450592" cy="274320"/>
          </a:xfrm>
          <a:prstGeom prst="roundRect">
            <a:avLst>
              <a:gd name="adj" fmla="val 40000"/>
            </a:avLst>
          </a:prstGeom>
          <a:solidFill>
            <a:schemeClr val="tx1"/>
          </a:solidFill>
          <a:ln/>
        </p:spPr>
      </p:sp>
      <p:sp>
        <p:nvSpPr>
          <p:cNvPr id="12" name="txt343"/>
          <p:cNvSpPr txBox="1"/>
          <p:nvPr/>
        </p:nvSpPr>
        <p:spPr>
          <a:xfrm>
            <a:off x="4523537" y="3200400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Issues · code smells backend</a:t>
            </a:r>
            <a:endParaRPr lang="en-US" sz="1100" dirty="0"/>
          </a:p>
        </p:txBody>
      </p:sp>
      <p:sp>
        <p:nvSpPr>
          <p:cNvPr id="13" name="card344"/>
          <p:cNvSpPr/>
          <p:nvPr/>
        </p:nvSpPr>
        <p:spPr>
          <a:xfrm>
            <a:off x="8132674" y="1371600"/>
            <a:ext cx="3511296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</p:sp>
      <p:pic>
        <p:nvPicPr>
          <p:cNvPr id="14" name="captura Issues frontend" descr="/home/claude/orig/ppt/media/image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7538" y="1426464"/>
            <a:ext cx="3401568" cy="2125980"/>
          </a:xfrm>
          <a:prstGeom prst="rect">
            <a:avLst/>
          </a:prstGeom>
        </p:spPr>
      </p:pic>
      <p:sp>
        <p:nvSpPr>
          <p:cNvPr id="15" name="card345"/>
          <p:cNvSpPr/>
          <p:nvPr/>
        </p:nvSpPr>
        <p:spPr>
          <a:xfrm>
            <a:off x="8315554" y="3200400"/>
            <a:ext cx="1440180" cy="274320"/>
          </a:xfrm>
          <a:prstGeom prst="roundRect">
            <a:avLst>
              <a:gd name="adj" fmla="val 40000"/>
            </a:avLst>
          </a:prstGeom>
          <a:solidFill>
            <a:schemeClr val="tx1"/>
          </a:solidFill>
          <a:ln/>
        </p:spPr>
      </p:sp>
      <p:sp>
        <p:nvSpPr>
          <p:cNvPr id="16" name="txt346"/>
          <p:cNvSpPr txBox="1"/>
          <p:nvPr/>
        </p:nvSpPr>
        <p:spPr>
          <a:xfrm>
            <a:off x="8315554" y="3200400"/>
            <a:ext cx="1440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Issues frontend</a:t>
            </a:r>
            <a:endParaRPr lang="en-US" sz="1100" dirty="0"/>
          </a:p>
        </p:txBody>
      </p:sp>
      <p:sp>
        <p:nvSpPr>
          <p:cNvPr id="17" name="card347"/>
          <p:cNvSpPr/>
          <p:nvPr/>
        </p:nvSpPr>
        <p:spPr>
          <a:xfrm>
            <a:off x="548640" y="3840480"/>
            <a:ext cx="3511296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</p:sp>
      <p:pic>
        <p:nvPicPr>
          <p:cNvPr id="18" name="captura Quality Gate" descr="/home/claude/orig/ppt/media/image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3895344"/>
            <a:ext cx="3401568" cy="2125980"/>
          </a:xfrm>
          <a:prstGeom prst="rect">
            <a:avLst/>
          </a:prstGeom>
        </p:spPr>
      </p:pic>
      <p:sp>
        <p:nvSpPr>
          <p:cNvPr id="19" name="card348"/>
          <p:cNvSpPr/>
          <p:nvPr/>
        </p:nvSpPr>
        <p:spPr>
          <a:xfrm>
            <a:off x="731520" y="5669280"/>
            <a:ext cx="1207008" cy="274320"/>
          </a:xfrm>
          <a:prstGeom prst="roundRect">
            <a:avLst>
              <a:gd name="adj" fmla="val 40000"/>
            </a:avLst>
          </a:prstGeom>
          <a:solidFill>
            <a:schemeClr val="tx1"/>
          </a:solidFill>
          <a:ln/>
        </p:spPr>
      </p:sp>
      <p:sp>
        <p:nvSpPr>
          <p:cNvPr id="20" name="txt349"/>
          <p:cNvSpPr txBox="1"/>
          <p:nvPr/>
        </p:nvSpPr>
        <p:spPr>
          <a:xfrm>
            <a:off x="731520" y="566928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Quality Gate</a:t>
            </a:r>
            <a:endParaRPr lang="en-US" sz="1100" dirty="0"/>
          </a:p>
        </p:txBody>
      </p:sp>
      <p:sp>
        <p:nvSpPr>
          <p:cNvPr id="21" name="card350"/>
          <p:cNvSpPr/>
          <p:nvPr/>
        </p:nvSpPr>
        <p:spPr>
          <a:xfrm>
            <a:off x="4340657" y="3840480"/>
            <a:ext cx="3511296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</p:sp>
      <p:pic>
        <p:nvPicPr>
          <p:cNvPr id="22" name="captura Projects overview" descr="/home/claude/orig/ppt/media/image1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5521" y="3895344"/>
            <a:ext cx="3401568" cy="2125980"/>
          </a:xfrm>
          <a:prstGeom prst="rect">
            <a:avLst/>
          </a:prstGeom>
        </p:spPr>
      </p:pic>
      <p:sp>
        <p:nvSpPr>
          <p:cNvPr id="23" name="card351"/>
          <p:cNvSpPr/>
          <p:nvPr/>
        </p:nvSpPr>
        <p:spPr>
          <a:xfrm>
            <a:off x="4523537" y="5669280"/>
            <a:ext cx="1595628" cy="274320"/>
          </a:xfrm>
          <a:prstGeom prst="roundRect">
            <a:avLst>
              <a:gd name="adj" fmla="val 40000"/>
            </a:avLst>
          </a:prstGeom>
          <a:solidFill>
            <a:schemeClr val="tx1"/>
          </a:solidFill>
          <a:ln/>
        </p:spPr>
      </p:sp>
      <p:sp>
        <p:nvSpPr>
          <p:cNvPr id="24" name="txt352"/>
          <p:cNvSpPr txBox="1"/>
          <p:nvPr/>
        </p:nvSpPr>
        <p:spPr>
          <a:xfrm>
            <a:off x="4523537" y="5669280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Projects overview</a:t>
            </a:r>
            <a:endParaRPr lang="en-US" sz="1100" dirty="0"/>
          </a:p>
        </p:txBody>
      </p:sp>
      <p:sp>
        <p:nvSpPr>
          <p:cNvPr id="25" name="card353"/>
          <p:cNvSpPr/>
          <p:nvPr/>
        </p:nvSpPr>
        <p:spPr>
          <a:xfrm>
            <a:off x="8131759" y="3840480"/>
            <a:ext cx="3511296" cy="2240280"/>
          </a:xfrm>
          <a:prstGeom prst="roundRect">
            <a:avLst>
              <a:gd name="adj" fmla="val 4898"/>
            </a:avLst>
          </a:prstGeom>
          <a:solidFill>
            <a:schemeClr val="tx1"/>
          </a:solidFill>
          <a:ln/>
        </p:spPr>
      </p:sp>
      <p:sp>
        <p:nvSpPr>
          <p:cNvPr id="26" name="circle354"/>
          <p:cNvSpPr/>
          <p:nvPr/>
        </p:nvSpPr>
        <p:spPr>
          <a:xfrm>
            <a:off x="8366760" y="406908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7" name="icon35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4206240"/>
            <a:ext cx="274320" cy="274320"/>
          </a:xfrm>
          <a:prstGeom prst="rect">
            <a:avLst/>
          </a:prstGeom>
        </p:spPr>
      </p:pic>
      <p:sp>
        <p:nvSpPr>
          <p:cNvPr id="28" name="txt356"/>
          <p:cNvSpPr txBox="1"/>
          <p:nvPr/>
        </p:nvSpPr>
        <p:spPr>
          <a:xfrm>
            <a:off x="8366760" y="48006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Capturas del servidor SonarQube local (proyectos atlas y atlas-frontend).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xt357"/>
          <p:cNvSpPr txBox="1"/>
          <p:nvPr/>
        </p:nvSpPr>
        <p:spPr>
          <a:xfrm>
            <a:off x="548640" y="301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5"/>
                </a:solidFill>
              </a:rPr>
              <a:t>CONCLUSIONES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Reflexiones: calidad, seguridad, normativa y legal</a:t>
            </a:r>
            <a:endParaRPr lang="en-US" sz="3000" dirty="0"/>
          </a:p>
        </p:txBody>
      </p:sp>
      <p:sp>
        <p:nvSpPr>
          <p:cNvPr id="5" name="card358"/>
          <p:cNvSpPr/>
          <p:nvPr/>
        </p:nvSpPr>
        <p:spPr>
          <a:xfrm>
            <a:off x="548640" y="1371600"/>
            <a:ext cx="3566160" cy="246888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circle359"/>
          <p:cNvSpPr/>
          <p:nvPr/>
        </p:nvSpPr>
        <p:spPr>
          <a:xfrm>
            <a:off x="777240" y="1600200"/>
            <a:ext cx="566928" cy="566928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p/>
        </p:txBody>
      </p:sp>
      <p:pic>
        <p:nvPicPr>
          <p:cNvPr id="7" name="icon36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1741932"/>
            <a:ext cx="283464" cy="283464"/>
          </a:xfrm>
          <a:prstGeom prst="rect">
            <a:avLst/>
          </a:prstGeom>
        </p:spPr>
      </p:pic>
      <p:sp>
        <p:nvSpPr>
          <p:cNvPr id="8" name="txt361"/>
          <p:cNvSpPr txBox="1"/>
          <p:nvPr/>
        </p:nvSpPr>
        <p:spPr>
          <a:xfrm>
            <a:off x="1508760" y="16002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Calidad</a:t>
            </a:r>
            <a:endParaRPr lang="en-US" sz="2000" dirty="0"/>
          </a:p>
        </p:txBody>
      </p:sp>
      <p:sp>
        <p:nvSpPr>
          <p:cNvPr id="9" name="txt362"/>
          <p:cNvSpPr txBox="1"/>
          <p:nvPr/>
        </p:nvSpPr>
        <p:spPr>
          <a:xfrm>
            <a:off x="777240" y="2304288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Base funcional correcta (78,6% Pass), pero deuda técnica alta en el frontend (181 code smells) y bug de compatibilidad React 19.</a:t>
            </a:r>
            <a:endParaRPr lang="en-US" sz="1400" dirty="0"/>
          </a:p>
        </p:txBody>
      </p:sp>
      <p:sp>
        <p:nvSpPr>
          <p:cNvPr id="10" name="card363"/>
          <p:cNvSpPr/>
          <p:nvPr/>
        </p:nvSpPr>
        <p:spPr>
          <a:xfrm>
            <a:off x="4311396" y="1371600"/>
            <a:ext cx="3566160" cy="246888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circle364"/>
          <p:cNvSpPr/>
          <p:nvPr/>
        </p:nvSpPr>
        <p:spPr>
          <a:xfrm>
            <a:off x="4539996" y="16002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pic>
        <p:nvPicPr>
          <p:cNvPr id="12" name="icon36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1741932"/>
            <a:ext cx="283464" cy="283464"/>
          </a:xfrm>
          <a:prstGeom prst="rect">
            <a:avLst/>
          </a:prstGeom>
        </p:spPr>
      </p:pic>
      <p:sp>
        <p:nvSpPr>
          <p:cNvPr id="13" name="txt366"/>
          <p:cNvSpPr txBox="1"/>
          <p:nvPr/>
        </p:nvSpPr>
        <p:spPr>
          <a:xfrm>
            <a:off x="5271516" y="16002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Seguridad</a:t>
            </a:r>
            <a:endParaRPr lang="en-US" sz="2000" dirty="0"/>
          </a:p>
        </p:txBody>
      </p:sp>
      <p:sp>
        <p:nvSpPr>
          <p:cNvPr id="14" name="txt367"/>
          <p:cNvSpPr txBox="1"/>
          <p:nvPr/>
        </p:nvSpPr>
        <p:spPr>
          <a:xfrm>
            <a:off x="4539996" y="2304288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4 defectos CRITICO: control de acceso roto, credenciales en texto claro, upload sin validar y secretos en código → OWASP A01, A02, A07, A08.</a:t>
            </a:r>
            <a:endParaRPr lang="en-US" sz="1400" dirty="0"/>
          </a:p>
        </p:txBody>
      </p:sp>
      <p:sp>
        <p:nvSpPr>
          <p:cNvPr id="15" name="card368"/>
          <p:cNvSpPr/>
          <p:nvPr/>
        </p:nvSpPr>
        <p:spPr>
          <a:xfrm>
            <a:off x="8074152" y="1371600"/>
            <a:ext cx="3566160" cy="246888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" name="circle369"/>
          <p:cNvSpPr/>
          <p:nvPr/>
        </p:nvSpPr>
        <p:spPr>
          <a:xfrm>
            <a:off x="8302752" y="160020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p/>
        </p:txBody>
      </p:sp>
      <p:pic>
        <p:nvPicPr>
          <p:cNvPr id="17" name="icon37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4484" y="1741932"/>
            <a:ext cx="283464" cy="283464"/>
          </a:xfrm>
          <a:prstGeom prst="rect">
            <a:avLst/>
          </a:prstGeom>
        </p:spPr>
      </p:pic>
      <p:sp>
        <p:nvSpPr>
          <p:cNvPr id="18" name="txt371"/>
          <p:cNvSpPr txBox="1"/>
          <p:nvPr/>
        </p:nvSpPr>
        <p:spPr>
          <a:xfrm>
            <a:off x="9034272" y="16002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Normativo</a:t>
            </a:r>
            <a:endParaRPr lang="en-US" sz="2000" dirty="0"/>
          </a:p>
        </p:txBody>
      </p:sp>
      <p:sp>
        <p:nvSpPr>
          <p:cNvPr id="19" name="txt372"/>
          <p:cNvSpPr txBox="1"/>
          <p:nvPr/>
        </p:nvSpPr>
        <p:spPr>
          <a:xfrm>
            <a:off x="8302752" y="2304288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La exposición de datos personales y el manejo de contraseñas incumplen Ley 19.628 / 21.719 e ISO/IEC 27001 (A.9.4, A.10).</a:t>
            </a:r>
            <a:endParaRPr lang="en-US" sz="1400" dirty="0"/>
          </a:p>
        </p:txBody>
      </p:sp>
      <p:sp>
        <p:nvSpPr>
          <p:cNvPr id="20" name="card373"/>
          <p:cNvSpPr/>
          <p:nvPr/>
        </p:nvSpPr>
        <p:spPr>
          <a:xfrm>
            <a:off x="548640" y="402336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" name="circle374"/>
          <p:cNvSpPr/>
          <p:nvPr/>
        </p:nvSpPr>
        <p:spPr>
          <a:xfrm>
            <a:off x="777240" y="4251960"/>
            <a:ext cx="566928" cy="566928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p/>
        </p:txBody>
      </p:sp>
      <p:pic>
        <p:nvPicPr>
          <p:cNvPr id="22" name="icon37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" y="4393692"/>
            <a:ext cx="283464" cy="283464"/>
          </a:xfrm>
          <a:prstGeom prst="rect">
            <a:avLst/>
          </a:prstGeom>
        </p:spPr>
      </p:pic>
      <p:sp>
        <p:nvSpPr>
          <p:cNvPr id="23" name="txt376"/>
          <p:cNvSpPr txBox="1"/>
          <p:nvPr/>
        </p:nvSpPr>
        <p:spPr>
          <a:xfrm>
            <a:off x="1508760" y="425196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Legal</a:t>
            </a:r>
            <a:endParaRPr lang="en-US" sz="2000" dirty="0"/>
          </a:p>
        </p:txBody>
      </p:sp>
      <p:sp>
        <p:nvSpPr>
          <p:cNvPr id="24" name="txt377"/>
          <p:cNvSpPr txBox="1"/>
          <p:nvPr/>
        </p:nvSpPr>
        <p:spPr>
          <a:xfrm>
            <a:off x="777240" y="4956048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Los datos de clientes no deben ser accesibles sin autorización; la divulgación se limita al ámbito académico (uso responsable).</a:t>
            </a:r>
            <a:endParaRPr lang="en-US" sz="1400" dirty="0"/>
          </a:p>
        </p:txBody>
      </p:sp>
      <p:sp>
        <p:nvSpPr>
          <p:cNvPr id="25" name="card378"/>
          <p:cNvSpPr/>
          <p:nvPr/>
        </p:nvSpPr>
        <p:spPr>
          <a:xfrm>
            <a:off x="6199632" y="4023360"/>
            <a:ext cx="544068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6" name="circle379"/>
          <p:cNvSpPr/>
          <p:nvPr/>
        </p:nvSpPr>
        <p:spPr>
          <a:xfrm>
            <a:off x="6428232" y="4251960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  <p:txBody>
          <a:bodyPr/>
          <a:p/>
        </p:txBody>
      </p:sp>
      <p:pic>
        <p:nvPicPr>
          <p:cNvPr id="27" name="icon38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9964" y="4393692"/>
            <a:ext cx="283464" cy="283464"/>
          </a:xfrm>
          <a:prstGeom prst="rect">
            <a:avLst/>
          </a:prstGeom>
        </p:spPr>
      </p:pic>
      <p:sp>
        <p:nvSpPr>
          <p:cNvPr id="28" name="txt381"/>
          <p:cNvSpPr txBox="1"/>
          <p:nvPr/>
        </p:nvSpPr>
        <p:spPr>
          <a:xfrm>
            <a:off x="7159752" y="4251960"/>
            <a:ext cx="4251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Ética</a:t>
            </a:r>
            <a:endParaRPr lang="en-US" sz="2000" dirty="0"/>
          </a:p>
        </p:txBody>
      </p:sp>
      <p:sp>
        <p:nvSpPr>
          <p:cNvPr id="29" name="txt382"/>
          <p:cNvSpPr txBox="1"/>
          <p:nvPr/>
        </p:nvSpPr>
        <p:spPr>
          <a:xfrm>
            <a:off x="6428232" y="4956048"/>
            <a:ext cx="4983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Reporte transparente, sin ocultar hallazgos, con evidencia reproducible y sin usar datos reales.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xt383"/>
          <p:cNvSpPr txBox="1"/>
          <p:nvPr/>
        </p:nvSpPr>
        <p:spPr>
          <a:xfrm>
            <a:off x="548640" y="301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5"/>
                </a:solidFill>
              </a:rPr>
              <a:t>CONCLUSIONES</a:t>
            </a:r>
            <a:endParaRPr lang="en-US" sz="11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Dictamen y acciones correctivas</a:t>
            </a:r>
            <a:endParaRPr lang="en-US" sz="3000" dirty="0"/>
          </a:p>
        </p:txBody>
      </p:sp>
      <p:sp>
        <p:nvSpPr>
          <p:cNvPr id="5" name="card384"/>
          <p:cNvSpPr/>
          <p:nvPr/>
        </p:nvSpPr>
        <p:spPr>
          <a:xfrm>
            <a:off x="548640" y="1371600"/>
            <a:ext cx="11091672" cy="1051560"/>
          </a:xfrm>
          <a:prstGeom prst="roundRect">
            <a:avLst>
              <a:gd name="adj" fmla="val 10435"/>
            </a:avLst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6" name="circle385"/>
          <p:cNvSpPr/>
          <p:nvPr/>
        </p:nvSpPr>
        <p:spPr>
          <a:xfrm>
            <a:off x="822960" y="1618488"/>
            <a:ext cx="566928" cy="566928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p/>
        </p:txBody>
      </p:sp>
      <p:pic>
        <p:nvPicPr>
          <p:cNvPr id="7" name="icon38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760220"/>
            <a:ext cx="283464" cy="283464"/>
          </a:xfrm>
          <a:prstGeom prst="rect">
            <a:avLst/>
          </a:prstGeom>
        </p:spPr>
      </p:pic>
      <p:sp>
        <p:nvSpPr>
          <p:cNvPr id="8" name="txt387"/>
          <p:cNvSpPr txBox="1"/>
          <p:nvPr/>
        </p:nvSpPr>
        <p:spPr>
          <a:xfrm>
            <a:off x="1645920" y="1371600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DICTAMEN: NO CERTIFICADO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Requiere ciclo de corrección antes de producción</a:t>
            </a:r>
            <a:endParaRPr lang="en-US" sz="1400" dirty="0"/>
          </a:p>
        </p:txBody>
      </p:sp>
      <p:sp>
        <p:nvSpPr>
          <p:cNvPr id="9" name="card388"/>
          <p:cNvSpPr/>
          <p:nvPr/>
        </p:nvSpPr>
        <p:spPr>
          <a:xfrm>
            <a:off x="548640" y="2651760"/>
            <a:ext cx="3566160" cy="17373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num389"/>
          <p:cNvSpPr/>
          <p:nvPr/>
        </p:nvSpPr>
        <p:spPr>
          <a:xfrm>
            <a:off x="777240" y="2852928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p/>
        </p:txBody>
      </p:sp>
      <p:sp>
        <p:nvSpPr>
          <p:cNvPr id="11" name="txt390"/>
          <p:cNvSpPr txBox="1"/>
          <p:nvPr/>
        </p:nvSpPr>
        <p:spPr>
          <a:xfrm>
            <a:off x="777240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2" name="card391"/>
          <p:cNvSpPr/>
          <p:nvPr/>
        </p:nvSpPr>
        <p:spPr>
          <a:xfrm>
            <a:off x="3035808" y="2944368"/>
            <a:ext cx="850392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/>
        </p:spPr>
        <p:txBody>
          <a:bodyPr/>
          <a:p/>
        </p:txBody>
      </p:sp>
      <p:sp>
        <p:nvSpPr>
          <p:cNvPr id="13" name="txt392"/>
          <p:cNvSpPr txBox="1"/>
          <p:nvPr/>
        </p:nvSpPr>
        <p:spPr>
          <a:xfrm>
            <a:off x="3035808" y="2944368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BUG-001</a:t>
            </a:r>
            <a:endParaRPr lang="en-US" sz="1100" dirty="0"/>
          </a:p>
        </p:txBody>
      </p:sp>
      <p:sp>
        <p:nvSpPr>
          <p:cNvPr id="14" name="txt393"/>
          <p:cNvSpPr txBox="1"/>
          <p:nvPr/>
        </p:nvSpPr>
        <p:spPr>
          <a:xfrm>
            <a:off x="777240" y="34747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Middleware de autenticación global (JWT) en todos los endpoints</a:t>
            </a:r>
            <a:endParaRPr lang="en-US" sz="1450" dirty="0"/>
          </a:p>
        </p:txBody>
      </p:sp>
      <p:sp>
        <p:nvSpPr>
          <p:cNvPr id="15" name="card394"/>
          <p:cNvSpPr/>
          <p:nvPr/>
        </p:nvSpPr>
        <p:spPr>
          <a:xfrm>
            <a:off x="4311396" y="2651760"/>
            <a:ext cx="3566160" cy="17373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" name="num395"/>
          <p:cNvSpPr/>
          <p:nvPr/>
        </p:nvSpPr>
        <p:spPr>
          <a:xfrm>
            <a:off x="4539996" y="2852928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p/>
        </p:txBody>
      </p:sp>
      <p:sp>
        <p:nvSpPr>
          <p:cNvPr id="17" name="txt396"/>
          <p:cNvSpPr txBox="1"/>
          <p:nvPr/>
        </p:nvSpPr>
        <p:spPr>
          <a:xfrm>
            <a:off x="4539996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8" name="card397"/>
          <p:cNvSpPr/>
          <p:nvPr/>
        </p:nvSpPr>
        <p:spPr>
          <a:xfrm>
            <a:off x="6798564" y="2944368"/>
            <a:ext cx="850392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/>
        </p:spPr>
        <p:txBody>
          <a:bodyPr/>
          <a:p/>
        </p:txBody>
      </p:sp>
      <p:sp>
        <p:nvSpPr>
          <p:cNvPr id="19" name="txt398"/>
          <p:cNvSpPr txBox="1"/>
          <p:nvPr/>
        </p:nvSpPr>
        <p:spPr>
          <a:xfrm>
            <a:off x="6798564" y="2944368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BUG-002</a:t>
            </a:r>
            <a:endParaRPr lang="en-US" sz="1100" dirty="0"/>
          </a:p>
        </p:txBody>
      </p:sp>
      <p:sp>
        <p:nvSpPr>
          <p:cNvPr id="20" name="txt399"/>
          <p:cNvSpPr txBox="1"/>
          <p:nvPr/>
        </p:nvSpPr>
        <p:spPr>
          <a:xfrm>
            <a:off x="4539996" y="34747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Hash seguro de contraseñas (bcrypt/argon2) y eliminación de credenciales por defecto</a:t>
            </a:r>
            <a:endParaRPr lang="en-US" sz="1450" dirty="0"/>
          </a:p>
        </p:txBody>
      </p:sp>
      <p:sp>
        <p:nvSpPr>
          <p:cNvPr id="21" name="card400"/>
          <p:cNvSpPr/>
          <p:nvPr/>
        </p:nvSpPr>
        <p:spPr>
          <a:xfrm>
            <a:off x="8074152" y="2651760"/>
            <a:ext cx="3566160" cy="17373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num401"/>
          <p:cNvSpPr/>
          <p:nvPr/>
        </p:nvSpPr>
        <p:spPr>
          <a:xfrm>
            <a:off x="8302752" y="2852928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p/>
        </p:txBody>
      </p:sp>
      <p:sp>
        <p:nvSpPr>
          <p:cNvPr id="23" name="txt402"/>
          <p:cNvSpPr txBox="1"/>
          <p:nvPr/>
        </p:nvSpPr>
        <p:spPr>
          <a:xfrm>
            <a:off x="8302752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4" name="card403"/>
          <p:cNvSpPr/>
          <p:nvPr/>
        </p:nvSpPr>
        <p:spPr>
          <a:xfrm>
            <a:off x="10561320" y="2944368"/>
            <a:ext cx="850392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/>
        </p:spPr>
        <p:txBody>
          <a:bodyPr/>
          <a:p/>
        </p:txBody>
      </p:sp>
      <p:sp>
        <p:nvSpPr>
          <p:cNvPr id="25" name="txt404"/>
          <p:cNvSpPr txBox="1"/>
          <p:nvPr/>
        </p:nvSpPr>
        <p:spPr>
          <a:xfrm>
            <a:off x="10561320" y="2944368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BUG-003</a:t>
            </a:r>
            <a:endParaRPr lang="en-US" sz="1100" dirty="0"/>
          </a:p>
        </p:txBody>
      </p:sp>
      <p:sp>
        <p:nvSpPr>
          <p:cNvPr id="26" name="txt405"/>
          <p:cNvSpPr txBox="1"/>
          <p:nvPr/>
        </p:nvSpPr>
        <p:spPr>
          <a:xfrm>
            <a:off x="8302752" y="34747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Validación de MIME/extensión en uploads — PDF, DOC, PPT, JPG y PNG</a:t>
            </a:r>
            <a:endParaRPr lang="en-US" sz="1450" dirty="0"/>
          </a:p>
        </p:txBody>
      </p:sp>
      <p:sp>
        <p:nvSpPr>
          <p:cNvPr id="27" name="card406"/>
          <p:cNvSpPr/>
          <p:nvPr/>
        </p:nvSpPr>
        <p:spPr>
          <a:xfrm>
            <a:off x="548640" y="4526280"/>
            <a:ext cx="3566160" cy="17373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8" name="num407"/>
          <p:cNvSpPr/>
          <p:nvPr/>
        </p:nvSpPr>
        <p:spPr>
          <a:xfrm>
            <a:off x="777240" y="4727448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p/>
        </p:txBody>
      </p:sp>
      <p:sp>
        <p:nvSpPr>
          <p:cNvPr id="29" name="txt408"/>
          <p:cNvSpPr txBox="1"/>
          <p:nvPr/>
        </p:nvSpPr>
        <p:spPr>
          <a:xfrm>
            <a:off x="777240" y="4727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30" name="card409"/>
          <p:cNvSpPr/>
          <p:nvPr/>
        </p:nvSpPr>
        <p:spPr>
          <a:xfrm>
            <a:off x="2295144" y="4818888"/>
            <a:ext cx="1591056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/>
        </p:spPr>
        <p:txBody>
          <a:bodyPr/>
          <a:p/>
        </p:txBody>
      </p:sp>
      <p:sp>
        <p:nvSpPr>
          <p:cNvPr id="31" name="txt410"/>
          <p:cNvSpPr txBox="1"/>
          <p:nvPr/>
        </p:nvSpPr>
        <p:spPr>
          <a:xfrm>
            <a:off x="2295144" y="4818888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BUG-004, BUG-011</a:t>
            </a:r>
            <a:endParaRPr lang="en-US" sz="1100" dirty="0"/>
          </a:p>
        </p:txBody>
      </p:sp>
      <p:sp>
        <p:nvSpPr>
          <p:cNvPr id="32" name="txt411"/>
          <p:cNvSpPr txBox="1"/>
          <p:nvPr/>
        </p:nvSpPr>
        <p:spPr>
          <a:xfrm>
            <a:off x="777240" y="53492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Secretos (JWT_SECRET y BD) fuera del código, en variables de entorno</a:t>
            </a:r>
            <a:endParaRPr lang="en-US" sz="1450" dirty="0"/>
          </a:p>
        </p:txBody>
      </p:sp>
      <p:sp>
        <p:nvSpPr>
          <p:cNvPr id="33" name="card412"/>
          <p:cNvSpPr/>
          <p:nvPr/>
        </p:nvSpPr>
        <p:spPr>
          <a:xfrm>
            <a:off x="4311396" y="4526280"/>
            <a:ext cx="3566160" cy="17373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4" name="num413"/>
          <p:cNvSpPr/>
          <p:nvPr/>
        </p:nvSpPr>
        <p:spPr>
          <a:xfrm>
            <a:off x="4539996" y="4727448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p/>
        </p:txBody>
      </p:sp>
      <p:sp>
        <p:nvSpPr>
          <p:cNvPr id="35" name="txt414"/>
          <p:cNvSpPr txBox="1"/>
          <p:nvPr/>
        </p:nvSpPr>
        <p:spPr>
          <a:xfrm>
            <a:off x="4539996" y="4727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36" name="card415"/>
          <p:cNvSpPr/>
          <p:nvPr/>
        </p:nvSpPr>
        <p:spPr>
          <a:xfrm>
            <a:off x="6140196" y="4818888"/>
            <a:ext cx="1508760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/>
        </p:spPr>
        <p:txBody>
          <a:bodyPr/>
          <a:p/>
        </p:txBody>
      </p:sp>
      <p:sp>
        <p:nvSpPr>
          <p:cNvPr id="37" name="txt416"/>
          <p:cNvSpPr txBox="1"/>
          <p:nvPr/>
        </p:nvSpPr>
        <p:spPr>
          <a:xfrm>
            <a:off x="6140196" y="481888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BUG-005/006/007</a:t>
            </a:r>
            <a:endParaRPr lang="en-US" sz="1100" dirty="0"/>
          </a:p>
        </p:txBody>
      </p:sp>
      <p:sp>
        <p:nvSpPr>
          <p:cNvPr id="38" name="txt417"/>
          <p:cNvSpPr txBox="1"/>
          <p:nvPr/>
        </p:nvSpPr>
        <p:spPr>
          <a:xfrm>
            <a:off x="4539996" y="53492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Restringir CORS, agregar rate-limit, transacciones y errores genéricos</a:t>
            </a:r>
            <a:endParaRPr lang="en-US" sz="1450" dirty="0"/>
          </a:p>
        </p:txBody>
      </p:sp>
      <p:sp>
        <p:nvSpPr>
          <p:cNvPr id="39" name="card418"/>
          <p:cNvSpPr/>
          <p:nvPr/>
        </p:nvSpPr>
        <p:spPr>
          <a:xfrm>
            <a:off x="8074152" y="4526280"/>
            <a:ext cx="3566160" cy="1737360"/>
          </a:xfrm>
          <a:prstGeom prst="roundRect">
            <a:avLst>
              <a:gd name="adj" fmla="val 631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0" name="num419"/>
          <p:cNvSpPr/>
          <p:nvPr/>
        </p:nvSpPr>
        <p:spPr>
          <a:xfrm>
            <a:off x="8302752" y="4727448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p/>
        </p:txBody>
      </p:sp>
      <p:sp>
        <p:nvSpPr>
          <p:cNvPr id="41" name="txt420"/>
          <p:cNvSpPr txBox="1"/>
          <p:nvPr/>
        </p:nvSpPr>
        <p:spPr>
          <a:xfrm>
            <a:off x="8302752" y="4727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42" name="card421"/>
          <p:cNvSpPr/>
          <p:nvPr/>
        </p:nvSpPr>
        <p:spPr>
          <a:xfrm>
            <a:off x="10232136" y="4818888"/>
            <a:ext cx="1179576" cy="274320"/>
          </a:xfrm>
          <a:prstGeom prst="roundRect">
            <a:avLst>
              <a:gd name="adj" fmla="val 40000"/>
            </a:avLst>
          </a:prstGeom>
          <a:solidFill>
            <a:schemeClr val="accent4"/>
          </a:solidFill>
          <a:ln/>
        </p:spPr>
        <p:txBody>
          <a:bodyPr/>
          <a:p/>
        </p:txBody>
      </p:sp>
      <p:sp>
        <p:nvSpPr>
          <p:cNvPr id="43" name="txt422"/>
          <p:cNvSpPr txBox="1"/>
          <p:nvPr/>
        </p:nvSpPr>
        <p:spPr>
          <a:xfrm>
            <a:off x="10232136" y="4818888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BUG-008/009</a:t>
            </a:r>
            <a:endParaRPr lang="en-US" sz="1100" dirty="0"/>
          </a:p>
        </p:txBody>
      </p:sp>
      <p:sp>
        <p:nvSpPr>
          <p:cNvPr id="44" name="txt423"/>
          <p:cNvSpPr txBox="1"/>
          <p:nvPr/>
        </p:nvSpPr>
        <p:spPr>
          <a:xfrm>
            <a:off x="8302752" y="53492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Cookies httpOnly, corrección de code smells y Quality Gate de seguridad en CI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ecor"/>
          <p:cNvSpPr/>
          <p:nvPr/>
        </p:nvSpPr>
        <p:spPr>
          <a:xfrm>
            <a:off x="7498080" y="1097280"/>
            <a:ext cx="4754880" cy="47548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4" name="icono escud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0" y="2560320"/>
            <a:ext cx="1828800" cy="1828800"/>
          </a:xfrm>
          <a:prstGeom prst="rect">
            <a:avLst/>
          </a:prstGeom>
        </p:spPr>
      </p:pic>
      <p:sp>
        <p:nvSpPr>
          <p:cNvPr id="5" name="txt424"/>
          <p:cNvSpPr txBox="1"/>
          <p:nvPr/>
        </p:nvSpPr>
        <p:spPr>
          <a:xfrm>
            <a:off x="822960" y="201168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Gracias</a:t>
            </a:r>
            <a:endParaRPr lang="en-US" sz="6600" dirty="0"/>
          </a:p>
        </p:txBody>
      </p:sp>
      <p:sp>
        <p:nvSpPr>
          <p:cNvPr id="6" name="txt425"/>
          <p:cNvSpPr txBox="1"/>
          <p:nvPr/>
        </p:nvSpPr>
        <p:spPr>
          <a:xfrm>
            <a:off x="822960" y="33375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4"/>
                </a:solidFill>
              </a:rPr>
              <a:t>Preguntas y respaldo técnico</a:t>
            </a:r>
            <a:endParaRPr lang="en-US" sz="2400" dirty="0"/>
          </a:p>
        </p:txBody>
      </p:sp>
      <p:sp>
        <p:nvSpPr>
          <p:cNvPr id="7" name="txt426"/>
          <p:cNvSpPr txBox="1"/>
          <p:nvPr/>
        </p:nvSpPr>
        <p:spPr>
          <a:xfrm>
            <a:off x="822960" y="4023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Luis Tasso · Miguel Arredondo · Nicolas Iturrieta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las Audit">
  <a:themeElements>
    <a:clrScheme name="Atlas Audit">
      <a:dk1>
        <a:srgbClr val="0F172A"/>
      </a:dk1>
      <a:lt1>
        <a:srgbClr val="FFFFFF"/>
      </a:lt1>
      <a:dk2>
        <a:srgbClr val="1E293B"/>
      </a:dk2>
      <a:lt2>
        <a:srgbClr val="F1F5F9"/>
      </a:lt2>
      <a:accent1>
        <a:srgbClr val="DC2626"/>
      </a:accent1>
      <a:accent2>
        <a:srgbClr val="F97316"/>
      </a:accent2>
      <a:accent3>
        <a:srgbClr val="15803D"/>
      </a:accent3>
      <a:accent4>
        <a:srgbClr val="38BDF8"/>
      </a:accent4>
      <a:accent5>
        <a:srgbClr val="64748B"/>
      </a:accent5>
      <a:accent6>
        <a:srgbClr val="EAB308"/>
      </a:accent6>
      <a:hlink>
        <a:srgbClr val="0EA5E9"/>
      </a:hlink>
      <a:folHlink>
        <a:srgbClr val="64748B"/>
      </a:folHlink>
    </a:clrScheme>
    <a:fontScheme name="Atlas Audi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Informe de Seguridad y Calidad - Sistema Atlas</dc:title>
  <dc:subject>PptxGenJS Presentation</dc:subject>
  <dc:creator>PptxGenJS</dc:creator>
  <cp:lastModifiedBy>PptxGenJS</cp:lastModifiedBy>
  <cp:revision>1</cp:revision>
  <dcterms:created xsi:type="dcterms:W3CDTF">2026-10-22T20:30:59Z</dcterms:created>
  <dcterms:modified xsi:type="dcterms:W3CDTF">2026-10-22T20:30:59Z</dcterms:modified>
</cp:coreProperties>
</file>